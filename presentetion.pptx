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99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96" r:id="rId26"/>
    <p:sldId id="297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300" r:id="rId35"/>
    <p:sldId id="286" r:id="rId36"/>
    <p:sldId id="287" r:id="rId37"/>
    <p:sldId id="288" r:id="rId38"/>
    <p:sldId id="289" r:id="rId39"/>
    <p:sldId id="290" r:id="rId40"/>
    <p:sldId id="295" r:id="rId41"/>
    <p:sldId id="302" r:id="rId42"/>
    <p:sldId id="303" r:id="rId43"/>
    <p:sldId id="305" r:id="rId44"/>
    <p:sldId id="304" r:id="rId45"/>
    <p:sldId id="306" r:id="rId46"/>
    <p:sldId id="307" r:id="rId47"/>
    <p:sldId id="291" r:id="rId48"/>
    <p:sldId id="292" r:id="rId49"/>
    <p:sldId id="293" r:id="rId50"/>
    <p:sldId id="294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8799" autoAdjust="0"/>
    <p:restoredTop sz="94660"/>
  </p:normalViewPr>
  <p:slideViewPr>
    <p:cSldViewPr snapToGrid="0" snapToObjects="1">
      <p:cViewPr varScale="1">
        <p:scale>
          <a:sx n="43" d="100"/>
          <a:sy n="43" d="100"/>
        </p:scale>
        <p:origin x="58" y="1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7" Type="http://schemas.openxmlformats.org/officeDocument/2006/relationships/image" Target="../media/image77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5" Type="http://schemas.openxmlformats.org/officeDocument/2006/relationships/image" Target="../media/image10.png"/><Relationship Id="rId4" Type="http://schemas.openxmlformats.org/officeDocument/2006/relationships/image" Target="../media/image75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49050" y="6448425"/>
            <a:ext cx="3524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1 / 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1525" y="2366069"/>
            <a:ext cx="11181397" cy="1508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sz="5400" b="0" i="0" u="none">
                <a:solidFill>
                  <a:srgbClr val="F8FAFC"/>
                </a:solidFill>
                <a:latin typeface="Urbanist ExtraBold"/>
              </a:rPr>
              <a:t>Comprehensive</a:t>
            </a:r>
            <a:r>
              <a:t>
</a:t>
            </a:r>
            <a:r>
              <a:rPr sz="5400" b="0" i="0" u="none">
                <a:solidFill>
                  <a:srgbClr val="38BDF8"/>
                </a:solidFill>
                <a:latin typeface="Urbanist ExtraBold"/>
              </a:rPr>
              <a:t>Sentiment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1525" y="4065091"/>
            <a:ext cx="10648950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sz="2100" b="0" i="0" u="none">
                <a:solidFill>
                  <a:srgbClr val="94A3B8"/>
                </a:solidFill>
                <a:latin typeface="Urbanist"/>
              </a:rPr>
              <a:t>An End-to-End Comparative Study: From Traditional ML to Transformers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Agenda &amp; Logical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01425" y="6448425"/>
            <a:ext cx="4000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2 /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525" y="2165300"/>
            <a:ext cx="1026795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CBD5E1"/>
                </a:solidFill>
                <a:latin typeface="Urbanist"/>
              </a:rPr>
              <a:t>Phase 1: Foundation</a:t>
            </a:r>
            <a:r>
              <a:rPr sz="1800" b="0" i="0" u="none">
                <a:solidFill>
                  <a:srgbClr val="CBD5E1"/>
                </a:solidFill>
                <a:latin typeface="Urbanist"/>
              </a:rPr>
              <a:t> - Datasets &amp; Text Normalization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525" y="2769096"/>
            <a:ext cx="1026795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CBD5E1"/>
                </a:solidFill>
                <a:latin typeface="Urbanist"/>
              </a:rPr>
              <a:t>Phase 2: Traditional ML (Baseline)</a:t>
            </a:r>
            <a:r>
              <a:rPr sz="1800" b="0" i="0" u="none">
                <a:solidFill>
                  <a:srgbClr val="CBD5E1"/>
                </a:solidFill>
                <a:latin typeface="Urbanist"/>
              </a:rPr>
              <a:t> - TF-IDF, LR, SVM, and Decision Trees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525" y="3372891"/>
            <a:ext cx="1026795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CBD5E1"/>
                </a:solidFill>
                <a:latin typeface="Urbanist"/>
              </a:rPr>
              <a:t>Phase 3: Word Embeddings</a:t>
            </a:r>
            <a:r>
              <a:rPr sz="1800" b="0" i="0" u="none">
                <a:solidFill>
                  <a:srgbClr val="CBD5E1"/>
                </a:solidFill>
                <a:latin typeface="Urbanist"/>
              </a:rPr>
              <a:t> - The bridging representation for Deep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525" y="3976687"/>
            <a:ext cx="1026795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CBD5E1"/>
                </a:solidFill>
                <a:latin typeface="Urbanist"/>
              </a:rPr>
              <a:t>Phase 4: Deep Learning</a:t>
            </a:r>
            <a:r>
              <a:rPr sz="1800" b="0" i="0" u="none">
                <a:solidFill>
                  <a:srgbClr val="CBD5E1"/>
                </a:solidFill>
                <a:latin typeface="Urbanist"/>
              </a:rPr>
              <a:t> - CNN, LSTM, and the Freezing Dilemma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4580483"/>
            <a:ext cx="1026795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 dirty="0">
                <a:solidFill>
                  <a:srgbClr val="CBD5E1"/>
                </a:solidFill>
                <a:latin typeface="Urbanist"/>
              </a:rPr>
              <a:t>Phase 5: The Transformer</a:t>
            </a:r>
            <a:r>
              <a:rPr sz="1800" b="0" i="0" u="none" dirty="0">
                <a:solidFill>
                  <a:srgbClr val="CBD5E1"/>
                </a:solidFill>
                <a:latin typeface="Urbanist"/>
              </a:rPr>
              <a:t> - DistilBERT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5184278"/>
            <a:ext cx="1026795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CBD5E1"/>
                </a:solidFill>
                <a:latin typeface="Urbanist"/>
              </a:rPr>
              <a:t>Phase 6: Engineering Conclusions</a:t>
            </a:r>
            <a:r>
              <a:rPr sz="1800" b="0" i="0" u="none">
                <a:solidFill>
                  <a:srgbClr val="CBD5E1"/>
                </a:solidFill>
                <a:latin typeface="Urbanist"/>
              </a:rPr>
              <a:t> - Trade-offs and Architecture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184350"/>
            <a:ext cx="11430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788146"/>
            <a:ext cx="11430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3391941"/>
            <a:ext cx="114300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3995737"/>
            <a:ext cx="114300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4599533"/>
            <a:ext cx="114300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5203328"/>
            <a:ext cx="1143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10950" y="6448425"/>
            <a:ext cx="3905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3 / 39</a:t>
            </a:r>
          </a:p>
        </p:txBody>
      </p:sp>
      <p:sp>
        <p:nvSpPr>
          <p:cNvPr id="3" name="Rectangle 2"/>
          <p:cNvSpPr/>
          <p:nvPr/>
        </p:nvSpPr>
        <p:spPr>
          <a:xfrm>
            <a:off x="5381625" y="2496442"/>
            <a:ext cx="142875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05401" y="2820292"/>
            <a:ext cx="9581197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0" i="0" u="none">
                <a:solidFill>
                  <a:srgbClr val="38BDF8"/>
                </a:solidFill>
                <a:latin typeface="Urbanist ExtraBold"/>
              </a:rPr>
              <a:t>Phase 1: Text Classification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6562" y="3934717"/>
            <a:ext cx="6238875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0" i="0" u="none">
                <a:solidFill>
                  <a:srgbClr val="94A3B8"/>
                </a:solidFill>
                <a:latin typeface="Urbanist"/>
              </a:rPr>
              <a:t>Datasets, Normalization, and Architecture constraints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1833562"/>
            <a:ext cx="5038725" cy="428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Dataset 1: IMDB Movie Reviews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01425" y="6448425"/>
            <a:ext cx="4000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4 / 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1833562"/>
            <a:ext cx="5290661" cy="361950"/>
          </a:xfrm>
          <a:prstGeom prst="rect">
            <a:avLst/>
          </a:prstGeom>
          <a:noFill/>
        </p:spPr>
        <p:txBody>
          <a:bodyPr wrap="square" lIns="409575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ExtraBold"/>
              </a:rPr>
              <a:t>Characteristics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275" y="2224087"/>
            <a:ext cx="4257675" cy="3505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1852612"/>
            <a:ext cx="2667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52525" y="2338387"/>
            <a:ext cx="4657725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CBD5E1"/>
                </a:solidFill>
                <a:latin typeface="Urbanist"/>
              </a:rPr>
              <a:t>Source:</a:t>
            </a:r>
            <a:r>
              <a:rPr sz="1800" b="0" i="0" u="none">
                <a:solidFill>
                  <a:srgbClr val="CBD5E1"/>
                </a:solidFill>
                <a:latin typeface="Urbanist"/>
              </a:rPr>
              <a:t> via HuggingFace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2942183"/>
            <a:ext cx="4657725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CBD5E1"/>
                </a:solidFill>
                <a:latin typeface="Urbanist"/>
              </a:rPr>
              <a:t>Structure:</a:t>
            </a:r>
            <a:r>
              <a:rPr sz="1800" b="0" i="0" u="none">
                <a:solidFill>
                  <a:srgbClr val="CBD5E1"/>
                </a:solidFill>
                <a:latin typeface="Urbanist"/>
              </a:rPr>
              <a:t> Long, highly detailed paragraphs.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3545978"/>
            <a:ext cx="465772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CBD5E1"/>
                </a:solidFill>
                <a:latin typeface="Urbanist"/>
              </a:rPr>
              <a:t>Content:</a:t>
            </a:r>
            <a:r>
              <a:rPr sz="1800" b="0" i="0" u="none">
                <a:solidFill>
                  <a:srgbClr val="CBD5E1"/>
                </a:solidFill>
                <a:latin typeface="Urbanist"/>
              </a:rPr>
              <a:t> Often contains extensive neutral plot summaries alongside emotional opinions.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525" y="4515445"/>
            <a:ext cx="4657725" cy="1097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CBD5E1"/>
                </a:solidFill>
                <a:latin typeface="Urbanist"/>
              </a:rPr>
              <a:t>Challenge:</a:t>
            </a:r>
            <a:r>
              <a:rPr sz="1800" b="0" i="0" u="none">
                <a:solidFill>
                  <a:srgbClr val="CBD5E1"/>
                </a:solidFill>
                <a:latin typeface="Urbanist"/>
              </a:rPr>
              <a:t> Requires the model to maintain long-term memory and filter out non-sentiment noise over hundreds of words.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2357437"/>
            <a:ext cx="114300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1387" y="2376487"/>
            <a:ext cx="1981497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2961233"/>
            <a:ext cx="114300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3565028"/>
            <a:ext cx="114300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4534495"/>
            <a:ext cx="1143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1833562"/>
            <a:ext cx="5038725" cy="428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Dataset 2: Rotten Tomatoes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01425" y="6448425"/>
            <a:ext cx="4000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5 / 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1833562"/>
            <a:ext cx="5290661" cy="361950"/>
          </a:xfrm>
          <a:prstGeom prst="rect">
            <a:avLst/>
          </a:prstGeom>
          <a:noFill/>
        </p:spPr>
        <p:txBody>
          <a:bodyPr wrap="square" lIns="485775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ExtraBold"/>
              </a:rPr>
              <a:t>Characteristics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275" y="2224087"/>
            <a:ext cx="4257675" cy="3505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1852612"/>
            <a:ext cx="3429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52525" y="2338387"/>
            <a:ext cx="4657725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CBD5E1"/>
                </a:solidFill>
                <a:latin typeface="Urbanist"/>
              </a:rPr>
              <a:t>Source: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2942183"/>
            <a:ext cx="465772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CBD5E1"/>
                </a:solidFill>
                <a:latin typeface="Urbanist"/>
              </a:rPr>
              <a:t>Structure:</a:t>
            </a:r>
            <a:r>
              <a:rPr sz="1800" b="0" i="0" u="none">
                <a:solidFill>
                  <a:srgbClr val="CBD5E1"/>
                </a:solidFill>
                <a:latin typeface="Urbanist"/>
              </a:rPr>
              <a:t> Extremely short, dense, and heavily edited text snippets.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3911649"/>
            <a:ext cx="4657725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CBD5E1"/>
                </a:solidFill>
                <a:latin typeface="Urbanist"/>
              </a:rPr>
              <a:t>Content:</a:t>
            </a:r>
            <a:r>
              <a:rPr sz="1800" b="0" i="0" u="none">
                <a:solidFill>
                  <a:srgbClr val="CBD5E1"/>
                </a:solidFill>
                <a:latin typeface="Urbanist"/>
              </a:rPr>
              <a:t> Direct, punchy opinions without fluff.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525" y="4515445"/>
            <a:ext cx="4657725" cy="1097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CBD5E1"/>
                </a:solidFill>
                <a:latin typeface="Urbanist"/>
              </a:rPr>
              <a:t>Challenge:</a:t>
            </a:r>
            <a:r>
              <a:rPr sz="1800" b="0" i="0" u="none">
                <a:solidFill>
                  <a:srgbClr val="CBD5E1"/>
                </a:solidFill>
                <a:latin typeface="Urbanist"/>
              </a:rPr>
              <a:t> Because of the brevity, missing or misinterpreting a single critical word can flip the predicted sentiment entirely.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2357437"/>
            <a:ext cx="114300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2150" y="2428874"/>
            <a:ext cx="1867197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2961233"/>
            <a:ext cx="114300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3930699"/>
            <a:ext cx="114300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4534495"/>
            <a:ext cx="1143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1833562"/>
            <a:ext cx="5038725" cy="428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Text Normalization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01425" y="6448425"/>
            <a:ext cx="4000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6 / 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1833562"/>
            <a:ext cx="50387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Raw web data is messy. We built to handle: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275" y="2224087"/>
            <a:ext cx="4257675" cy="3505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4478" y="2199083"/>
            <a:ext cx="1867197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52525" y="2694384"/>
            <a:ext cx="465772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CBD5E1"/>
                </a:solidFill>
                <a:latin typeface="Urbanist"/>
              </a:rPr>
              <a:t>HTML Stripping:</a:t>
            </a:r>
            <a:r>
              <a:rPr sz="1800" b="0" i="0" u="none">
                <a:solidFill>
                  <a:srgbClr val="CBD5E1"/>
                </a:solidFill>
                <a:latin typeface="Urbanist"/>
              </a:rPr>
              <a:t> Removing artifacts like  common in the IMDB dataset.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3663850"/>
            <a:ext cx="465772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CBD5E1"/>
                </a:solidFill>
                <a:latin typeface="Urbanist"/>
              </a:rPr>
              <a:t>Lowercasing:</a:t>
            </a:r>
            <a:r>
              <a:rPr sz="1800" b="0" i="0" u="none">
                <a:solidFill>
                  <a:srgbClr val="CBD5E1"/>
                </a:solidFill>
                <a:latin typeface="Urbanist"/>
              </a:rPr>
              <a:t> Ensuring "The" and "the" map to the same mathematical representation.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4633317"/>
            <a:ext cx="4657725" cy="1097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CBD5E1"/>
                </a:solidFill>
                <a:latin typeface="Urbanist"/>
              </a:rPr>
              <a:t>Punctuation Separation:</a:t>
            </a:r>
            <a:r>
              <a:rPr sz="1800" b="0" i="0" u="none">
                <a:solidFill>
                  <a:srgbClr val="CBD5E1"/>
                </a:solidFill>
                <a:latin typeface="Urbanist"/>
              </a:rPr>
              <a:t> Detaching symbols so "bad!" doesn't become a unique token distinct from "bad".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2713434"/>
            <a:ext cx="11430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3682900"/>
            <a:ext cx="114300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4652367"/>
            <a:ext cx="1143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Hyperparameter: Sequence Length</a:t>
            </a:r>
          </a:p>
        </p:txBody>
      </p:sp>
      <p:sp>
        <p:nvSpPr>
          <p:cNvPr id="3" name="Rectangle 2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01425" y="6448425"/>
            <a:ext cx="4000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7 /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3100387"/>
            <a:ext cx="2409825" cy="1333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500"/>
              </a:lnSpc>
            </a:pPr>
            <a:r>
              <a:rPr sz="10500" b="0" i="0" u="none">
                <a:solidFill>
                  <a:srgbClr val="A78BFA"/>
                </a:solidFill>
                <a:latin typeface="Urbanist ExtraBold"/>
              </a:rPr>
              <a:t>200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4529137"/>
            <a:ext cx="240982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8FAFC"/>
                </a:solidFill>
                <a:latin typeface="Urbanist"/>
              </a:rPr>
              <a:t>MAX_SEQ_LENGTH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52850" y="2863453"/>
            <a:ext cx="8051006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ExtraBold"/>
              </a:rPr>
              <a:t>Standardizing Input Tensors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52850" y="3368278"/>
            <a:ext cx="76676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Neural networks demand fixed-size inputs. We set the limit to 200 words per review.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52850" y="3893939"/>
            <a:ext cx="76676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Urbanist"/>
              </a:rPr>
              <a:t>Padding: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Reviews shorter than 200 words are padded with a zero-index  token.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52850" y="4419600"/>
            <a:ext cx="76676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Urbanist"/>
              </a:rPr>
              <a:t>Truncation: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Reviews longer than 200 words are chopped. This means we might lose concluding thoughts in IMDB, presenting a known limitation.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10950" y="6448425"/>
            <a:ext cx="3905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8 / 39</a:t>
            </a:r>
          </a:p>
        </p:txBody>
      </p:sp>
      <p:sp>
        <p:nvSpPr>
          <p:cNvPr id="3" name="Rectangle 2"/>
          <p:cNvSpPr/>
          <p:nvPr/>
        </p:nvSpPr>
        <p:spPr>
          <a:xfrm>
            <a:off x="5381625" y="2496442"/>
            <a:ext cx="142875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690574" y="2820292"/>
            <a:ext cx="6810851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0" i="0" u="none">
                <a:solidFill>
                  <a:srgbClr val="38BDF8"/>
                </a:solidFill>
                <a:latin typeface="Urbanist ExtraBold"/>
              </a:rPr>
              <a:t>Phase 2: Traditional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86237" y="3934717"/>
            <a:ext cx="3819525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0" i="0" u="none">
                <a:solidFill>
                  <a:srgbClr val="94A3B8"/>
                </a:solidFill>
                <a:latin typeface="Urbanist"/>
              </a:rPr>
              <a:t>Establishing Our Baseline Metrics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TF-IDF Vectorization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10950" y="6448425"/>
            <a:ext cx="3905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9 /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3100387"/>
            <a:ext cx="3086100" cy="1333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500"/>
              </a:lnSpc>
            </a:pPr>
            <a:r>
              <a:rPr sz="10500" b="0" i="0" u="none">
                <a:solidFill>
                  <a:srgbClr val="A78BFA"/>
                </a:solidFill>
                <a:latin typeface="Urbanist ExtraBold"/>
              </a:rPr>
              <a:t>5000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4529137"/>
            <a:ext cx="30861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8FAFC"/>
                </a:solidFill>
                <a:latin typeface="Urbanist"/>
              </a:rPr>
              <a:t>MAX_FEATURES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29125" y="2791122"/>
            <a:ext cx="7340917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ExtraBold"/>
              </a:rPr>
              <a:t>Bridging Text and Classical Math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9125" y="3295947"/>
            <a:ext cx="69913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Traditional models cannot ingest raw sequence matrices. We collapsed the text into sparse vectors using Term Frequency-Inverse Document Frequency.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9125" y="4156769"/>
            <a:ext cx="69913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We capped the extraction at 5000 features. This prevents memory overflow while retaining the most statistically powerful sentiment markers (e.g., "terrible", "masterpiece").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233910"/>
            <a:ext cx="3359199" cy="348555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474" y="2233910"/>
            <a:ext cx="3359199" cy="348555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1424" y="2233910"/>
            <a:ext cx="3359199" cy="34855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Traditional Models Evaluated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344275" y="6448425"/>
            <a:ext cx="457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10 / 39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" y="2529185"/>
            <a:ext cx="2768649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66800" y="3100685"/>
            <a:ext cx="2907082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ExtraBold"/>
              </a:rPr>
              <a:t>Logistic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4083546"/>
            <a:ext cx="2768649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Fast, linear model. Exceptional at finding direct correlations with specific TF-IDF keywords.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1749" y="2529185"/>
            <a:ext cx="2768649" cy="381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11749" y="3100685"/>
            <a:ext cx="2907082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ExtraBold"/>
              </a:rPr>
              <a:t>Linear SVM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1749" y="4083546"/>
            <a:ext cx="2768649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Finds the optimal mathematical hyper-plane to separate positive and negative vectors.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6699" y="2529185"/>
            <a:ext cx="2768649" cy="381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56699" y="3100685"/>
            <a:ext cx="2907082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ExtraBold"/>
              </a:rPr>
              <a:t>Decision Tree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699" y="4083546"/>
            <a:ext cx="2768649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Capped depth strictly at 20 to prevent massive overfitting on the training set.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800" y="3620690"/>
            <a:ext cx="2438846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1749" y="3624560"/>
            <a:ext cx="724048" cy="3048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56699" y="3624560"/>
            <a:ext cx="1524297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1676400"/>
            <a:ext cx="10648950" cy="46005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4761607"/>
            <a:ext cx="10648950" cy="10513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Results: Traditional ML (Rotten Tomatoes)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01425" y="6448425"/>
            <a:ext cx="4000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11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2140446"/>
            <a:ext cx="10648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Performance on short, dense, context-heavy sentences: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650" y="4952107"/>
            <a:ext cx="102203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Urbanist"/>
              </a:rPr>
              <a:t>Observation: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Short sentences lack enough repeated keyword frequency for TF-IDF to shine. The models struggle without deep context.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1676400"/>
            <a:ext cx="10648950" cy="46005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4761607"/>
            <a:ext cx="10648950" cy="10513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Results: Traditional ML (IMDB)</a:t>
            </a:r>
          </a:p>
        </p:txBody>
      </p:sp>
      <p:sp>
        <p:nvSpPr>
          <p:cNvPr id="5" name="Rectangle 4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53800" y="6448425"/>
            <a:ext cx="4476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12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2140446"/>
            <a:ext cx="10648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Performance on long, keyword-rich reviews: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650" y="4952107"/>
            <a:ext cx="102203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Urbanist"/>
              </a:rPr>
              <a:t>Observation: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With enough text length, simple linear correlation works incredibly well! The presence of specific words is a strong enough signal.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The Power of Simplicity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63325" y="6448425"/>
            <a:ext cx="4381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13 /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3100387"/>
            <a:ext cx="3171825" cy="1333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500"/>
              </a:lnSpc>
            </a:pPr>
            <a:r>
              <a:rPr sz="10500" b="0" i="0" u="none">
                <a:solidFill>
                  <a:srgbClr val="A78BFA"/>
                </a:solidFill>
                <a:latin typeface="Urbanist ExtraBold"/>
              </a:rPr>
              <a:t>0.53s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4529137"/>
            <a:ext cx="317182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8FAFC"/>
                </a:solidFill>
                <a:latin typeface="Urbanist"/>
              </a:rPr>
              <a:t>LR Train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14850" y="2791122"/>
            <a:ext cx="7250906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ExtraBold"/>
              </a:rPr>
              <a:t>Speed vs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14850" y="3295947"/>
            <a:ext cx="69056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Logistic Regression achieved </a:t>
            </a:r>
            <a:r>
              <a:rPr sz="1650" b="1" i="0" u="none">
                <a:solidFill>
                  <a:srgbClr val="CBD5E1"/>
                </a:solidFill>
                <a:latin typeface="Urbanist"/>
              </a:rPr>
              <a:t>89.35%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accuracy on IMDB in roughly half a second of total training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4850" y="4156769"/>
            <a:ext cx="69056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This establishes a fiercely competitive baseline. Any Deep Learning model we implement next must justify its massive compute cost by significantly beating this score.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256DE0-AEC9-2012-353E-EA03F1307F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"/>
          <a:stretch>
            <a:fillRect/>
          </a:stretch>
        </p:blipFill>
        <p:spPr>
          <a:xfrm rot="16200000">
            <a:off x="2667641" y="-2666359"/>
            <a:ext cx="6856718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933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353800" y="6448425"/>
            <a:ext cx="4476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14 / 39</a:t>
            </a:r>
          </a:p>
        </p:txBody>
      </p:sp>
      <p:sp>
        <p:nvSpPr>
          <p:cNvPr id="3" name="Rectangle 2"/>
          <p:cNvSpPr/>
          <p:nvPr/>
        </p:nvSpPr>
        <p:spPr>
          <a:xfrm>
            <a:off x="5381625" y="2496442"/>
            <a:ext cx="142875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80510" y="2820292"/>
            <a:ext cx="7830978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0" i="0" u="none">
                <a:solidFill>
                  <a:srgbClr val="38BDF8"/>
                </a:solidFill>
                <a:latin typeface="Urbanist ExtraBold"/>
              </a:rPr>
              <a:t>Phase 3: Word Embeddings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43275" y="3934717"/>
            <a:ext cx="5505450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0" i="0" u="none">
                <a:solidFill>
                  <a:srgbClr val="94A3B8"/>
                </a:solidFill>
                <a:latin typeface="Urbanist"/>
              </a:rPr>
              <a:t>The required representation for Deep Learning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124372"/>
            <a:ext cx="3359199" cy="370462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474" y="2124372"/>
            <a:ext cx="3359199" cy="370462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1424" y="2124372"/>
            <a:ext cx="3359199" cy="37046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The Three Embedding Strategies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353800" y="6448425"/>
            <a:ext cx="4476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15 / 39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" y="2419647"/>
            <a:ext cx="2768649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66800" y="2991147"/>
            <a:ext cx="2907082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ExtraBold"/>
              </a:rPr>
              <a:t>1. Random Init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3495972"/>
            <a:ext cx="2768649" cy="20109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Starting with completely random weights. The neural network must learn English grammar and sentiment entirely from scratch based only on our dataset.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1749" y="2419647"/>
            <a:ext cx="2768649" cy="381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11749" y="2991147"/>
            <a:ext cx="2907082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ExtraBold"/>
              </a:rPr>
              <a:t>2. GloVe (Pretrained)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1749" y="3857922"/>
            <a:ext cx="2768649" cy="1675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Pretrained on 6 Billion web tokens. Provides excellent general English semantics instantly, projecting words into a known 300D spatial relation.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6699" y="2419647"/>
            <a:ext cx="2768649" cy="381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56699" y="2991147"/>
            <a:ext cx="2907082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ExtraBold"/>
              </a:rPr>
              <a:t>3. Custom Word2Vec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699" y="3857922"/>
            <a:ext cx="2768649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Trained exclusively on our specific movie review corpus to capture domain-specific terminology and context.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Custom Word2Vec Parameters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53800" y="6448425"/>
            <a:ext cx="4476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16 / 39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267569"/>
              </p:ext>
            </p:extLst>
          </p:nvPr>
        </p:nvGraphicFramePr>
        <p:xfrm>
          <a:off x="771525" y="2147143"/>
          <a:ext cx="10648949" cy="3658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53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4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791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787"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8BDF8"/>
                          </a:solidFill>
                          <a:latin typeface="Urbanist ExtraBold"/>
                        </a:rPr>
                        <a:t>Parameter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8BDF8"/>
                          </a:solidFill>
                          <a:latin typeface="Urbanist ExtraBold"/>
                        </a:rPr>
                        <a:t>Value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8BDF8"/>
                          </a:solidFill>
                          <a:latin typeface="Urbanist ExtraBold"/>
                        </a:rPr>
                        <a:t>Reasoning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787">
                <a:tc>
                  <a:txBody>
                    <a:bodyPr/>
                    <a:lstStyle/>
                    <a:p>
                      <a:pPr algn="l"/>
                      <a:r>
                        <a:rPr lang="en-US" sz="1650" b="0" i="0" u="none" dirty="0">
                          <a:solidFill>
                            <a:srgbClr val="CBD5E1"/>
                          </a:solidFill>
                          <a:latin typeface="Urbanist"/>
                        </a:rPr>
                        <a:t>VECTOR_SIZE</a:t>
                      </a:r>
                      <a:endParaRPr sz="1650" b="0" i="0" u="none" dirty="0">
                        <a:solidFill>
                          <a:srgbClr val="CBD5E1"/>
                        </a:solidFill>
                        <a:latin typeface="Urbanis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512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High dimensionality captures complex nuances and relationships.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787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WINDOW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Context scope: looks 5 words forward and backward.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787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SG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Utilizes Skip-Gram architecture rather than CBOW.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791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EPOCHS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 dirty="0">
                          <a:solidFill>
                            <a:srgbClr val="CBD5E1"/>
                          </a:solidFill>
                          <a:latin typeface="Urbanist"/>
                        </a:rPr>
                        <a:t>Ensured deep convergence over our specific corpus.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71525" y="2889051"/>
            <a:ext cx="210532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876847" y="2889051"/>
            <a:ext cx="116443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041278" y="2889051"/>
            <a:ext cx="737919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1525" y="3614737"/>
            <a:ext cx="210532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76847" y="3614737"/>
            <a:ext cx="116443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041278" y="3614737"/>
            <a:ext cx="737919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1525" y="4340423"/>
            <a:ext cx="210532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76847" y="4340423"/>
            <a:ext cx="116443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041278" y="4340423"/>
            <a:ext cx="737919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1525" y="5066109"/>
            <a:ext cx="210532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876847" y="5066109"/>
            <a:ext cx="116443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041278" y="5066109"/>
            <a:ext cx="737919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1525" y="5791795"/>
            <a:ext cx="210532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876847" y="5791795"/>
            <a:ext cx="116443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041278" y="5791795"/>
            <a:ext cx="737919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419" y="3112888"/>
            <a:ext cx="1409997" cy="3048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670" y="3829049"/>
            <a:ext cx="838348" cy="3048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670" y="4571268"/>
            <a:ext cx="381148" cy="3048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670" y="5289946"/>
            <a:ext cx="838348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1785342"/>
            <a:ext cx="5038725" cy="428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Handling Out of Vocabulary (OOV)</a:t>
            </a:r>
          </a:p>
        </p:txBody>
      </p:sp>
      <p:sp>
        <p:nvSpPr>
          <p:cNvPr id="4" name="Rectangle 3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53800" y="6448425"/>
            <a:ext cx="4476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17 / 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1785342"/>
            <a:ext cx="5290661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ExtraBold"/>
              </a:rPr>
              <a:t>Min_Count &amp; UNK Tokens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275" y="2175867"/>
            <a:ext cx="4257675" cy="3505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52525" y="3259633"/>
            <a:ext cx="465772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 dirty="0">
                <a:solidFill>
                  <a:srgbClr val="CBD5E1"/>
                </a:solidFill>
                <a:latin typeface="Urbanist"/>
              </a:rPr>
              <a:t>Words appearing 1 or 2 times are discarded to remove typos and extreme outliers.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4229100"/>
            <a:ext cx="465772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 dirty="0">
                <a:solidFill>
                  <a:srgbClr val="CBD5E1"/>
                </a:solidFill>
                <a:latin typeface="Urbanist"/>
              </a:rPr>
              <a:t>During testing, any unseen word is mapped to index 1: 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5198566"/>
            <a:ext cx="465772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CBD5E1"/>
                </a:solidFill>
                <a:latin typeface="Urbanist"/>
              </a:rPr>
              <a:t>Benefit:</a:t>
            </a:r>
            <a:r>
              <a:rPr sz="1800" b="0" i="0" u="none">
                <a:solidFill>
                  <a:srgbClr val="CBD5E1"/>
                </a:solidFill>
                <a:latin typeface="Urbanist"/>
              </a:rPr>
              <a:t> Drastically reduces noise and prevents overfitting on rare test words.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2309217"/>
            <a:ext cx="11430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884" y="2309217"/>
            <a:ext cx="4533127" cy="67047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3278683"/>
            <a:ext cx="114300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4248150"/>
            <a:ext cx="114300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5217616"/>
            <a:ext cx="1143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363325" y="6448425"/>
            <a:ext cx="4381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18 / 39</a:t>
            </a:r>
          </a:p>
        </p:txBody>
      </p:sp>
      <p:sp>
        <p:nvSpPr>
          <p:cNvPr id="3" name="Rectangle 2"/>
          <p:cNvSpPr/>
          <p:nvPr/>
        </p:nvSpPr>
        <p:spPr>
          <a:xfrm>
            <a:off x="5381625" y="2496442"/>
            <a:ext cx="142875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695575" y="2820292"/>
            <a:ext cx="6800850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0" i="0" u="none">
                <a:solidFill>
                  <a:srgbClr val="38BDF8"/>
                </a:solidFill>
                <a:latin typeface="Urbanist ExtraBold"/>
              </a:rPr>
              <a:t>Phase 4: Deep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48050" y="3934717"/>
            <a:ext cx="5295900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0" i="0" u="none">
                <a:solidFill>
                  <a:srgbClr val="94A3B8"/>
                </a:solidFill>
                <a:latin typeface="Urbanist"/>
              </a:rPr>
              <a:t>Convolutional and Recurrent Neural Networks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Deep Learning Hyperparameters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63325" y="6448425"/>
            <a:ext cx="4381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19 / 39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1525" y="2509986"/>
          <a:ext cx="10648948" cy="29332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4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5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689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3313"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8BDF8"/>
                          </a:solidFill>
                          <a:latin typeface="Urbanist ExtraBold"/>
                        </a:rPr>
                        <a:t>Parameter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8BDF8"/>
                          </a:solidFill>
                          <a:latin typeface="Urbanist ExtraBold"/>
                        </a:rPr>
                        <a:t>Value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8BDF8"/>
                          </a:solidFill>
                          <a:latin typeface="Urbanist ExtraBold"/>
                        </a:rPr>
                        <a:t>Reasoning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3313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BATCH_SIZE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32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Standard balance of GPU memory usage and gradient stability.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3313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LEARNING_RATE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0.001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Default optimum for the Adam optimizer.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314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DROPOUT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0.5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Heavy regularization applied to combat rapid overfitting.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71525" y="3251894"/>
            <a:ext cx="233481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106340" y="3251894"/>
            <a:ext cx="114523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251573" y="3251894"/>
            <a:ext cx="716890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1525" y="3977580"/>
            <a:ext cx="233481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106340" y="3977580"/>
            <a:ext cx="114523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51573" y="3977580"/>
            <a:ext cx="716890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1525" y="4703266"/>
            <a:ext cx="233481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106340" y="4703266"/>
            <a:ext cx="114523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51573" y="4703266"/>
            <a:ext cx="716890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1525" y="5428952"/>
            <a:ext cx="233481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106340" y="5428952"/>
            <a:ext cx="114523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51573" y="5428952"/>
            <a:ext cx="716890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00" y="3475732"/>
            <a:ext cx="1295697" cy="3048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00" y="4206937"/>
            <a:ext cx="1638597" cy="3048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00" y="4927103"/>
            <a:ext cx="952648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1680567"/>
            <a:ext cx="5038725" cy="428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TextCNN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6650" y="6448425"/>
            <a:ext cx="5048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20 / 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1680567"/>
            <a:ext cx="5290661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ExtraBold"/>
              </a:rPr>
              <a:t>1D Convolutions over 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2185392"/>
            <a:ext cx="50387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Instead of image pixels, our CNN slides filters across word embeddings to find n-grams.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275" y="2071092"/>
            <a:ext cx="4257675" cy="3505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52525" y="2998589"/>
            <a:ext cx="465772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 dirty="0">
                <a:solidFill>
                  <a:srgbClr val="CBD5E1"/>
                </a:solidFill>
                <a:latin typeface="Urbanist"/>
              </a:rPr>
              <a:t>Filter Sizes:</a:t>
            </a:r>
            <a:r>
              <a:rPr lang="he-IL" sz="1800" b="1" i="0" u="none" dirty="0">
                <a:solidFill>
                  <a:srgbClr val="CBD5E1"/>
                </a:solidFill>
                <a:latin typeface="Urbanist"/>
              </a:rPr>
              <a:t>                                          </a:t>
            </a:r>
            <a:r>
              <a:rPr sz="1800" b="0" i="0" u="none" dirty="0">
                <a:solidFill>
                  <a:srgbClr val="CBD5E1"/>
                </a:solidFill>
                <a:latin typeface="Urbanist"/>
              </a:rPr>
              <a:t> (Captures 3-word, 4-word, and 5-word phrases).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3968055"/>
            <a:ext cx="465772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 dirty="0">
                <a:solidFill>
                  <a:srgbClr val="CBD5E1"/>
                </a:solidFill>
                <a:latin typeface="Urbanist"/>
              </a:rPr>
              <a:t>Features:</a:t>
            </a:r>
            <a:r>
              <a:rPr sz="18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lang="he-IL" sz="1800" b="0" i="0" u="none" dirty="0">
                <a:solidFill>
                  <a:srgbClr val="CBD5E1"/>
                </a:solidFill>
                <a:latin typeface="Urbanist"/>
              </a:rPr>
              <a:t>         </a:t>
            </a:r>
            <a:r>
              <a:rPr sz="1800" b="0" i="0" u="none" dirty="0">
                <a:solidFill>
                  <a:srgbClr val="CBD5E1"/>
                </a:solidFill>
                <a:latin typeface="Urbanist"/>
              </a:rPr>
              <a:t>filters per size (300 total features extracted).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4937521"/>
            <a:ext cx="4657725" cy="1097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CBD5E1"/>
                </a:solidFill>
                <a:latin typeface="Urbanist"/>
              </a:rPr>
              <a:t>Pooling:</a:t>
            </a:r>
            <a:r>
              <a:rPr sz="1800" b="0" i="0" u="none">
                <a:solidFill>
                  <a:srgbClr val="CBD5E1"/>
                </a:solidFill>
                <a:latin typeface="Urbanist"/>
              </a:rPr>
              <a:t> Max-Over-Time Pooling extracts the single strongest signal from each filter across the entire sentence length.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3017639"/>
            <a:ext cx="11430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3619" y="3065321"/>
            <a:ext cx="1181397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3987105"/>
            <a:ext cx="114300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1203" y="4028925"/>
            <a:ext cx="495448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4956571"/>
            <a:ext cx="1143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1680567"/>
            <a:ext cx="5038725" cy="428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TextLSTM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53800" y="6448425"/>
            <a:ext cx="4476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21 / 39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050" y="2071092"/>
            <a:ext cx="4257675" cy="3505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81750" y="1680567"/>
            <a:ext cx="5290661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ExtraBold"/>
              </a:rPr>
              <a:t>Sequential 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1750" y="2185392"/>
            <a:ext cx="50387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Processes text word-by-word sequentially, maintaining a "hidden state" of past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2750" y="2998589"/>
            <a:ext cx="4909661" cy="338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 dirty="0">
                <a:solidFill>
                  <a:srgbClr val="CBD5E1"/>
                </a:solidFill>
                <a:latin typeface="Urbanist"/>
              </a:rPr>
              <a:t>Hidden Dim:</a:t>
            </a:r>
            <a:r>
              <a:rPr sz="18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lang="he-IL" sz="1800" b="0" i="0" u="none" dirty="0">
                <a:solidFill>
                  <a:srgbClr val="CBD5E1"/>
                </a:solidFill>
                <a:latin typeface="Urbanist"/>
              </a:rPr>
              <a:t>        </a:t>
            </a:r>
            <a:r>
              <a:rPr sz="1800" b="0" i="0" u="none" dirty="0">
                <a:solidFill>
                  <a:srgbClr val="CBD5E1"/>
                </a:solidFill>
                <a:latin typeface="Urbanist"/>
              </a:rPr>
              <a:t>(The size of the memory vector).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2750" y="3968055"/>
            <a:ext cx="4657725" cy="338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 dirty="0">
                <a:solidFill>
                  <a:srgbClr val="CBD5E1"/>
                </a:solidFill>
                <a:latin typeface="Urbanist"/>
              </a:rPr>
              <a:t>Depth:</a:t>
            </a:r>
            <a:r>
              <a:rPr lang="he-IL" sz="1800" b="1" i="0" u="none" dirty="0">
                <a:solidFill>
                  <a:srgbClr val="CBD5E1"/>
                </a:solidFill>
                <a:latin typeface="Urbanist"/>
              </a:rPr>
              <a:t>      </a:t>
            </a:r>
            <a:r>
              <a:rPr sz="1800" b="0" i="0" u="none" dirty="0">
                <a:solidFill>
                  <a:srgbClr val="CBD5E1"/>
                </a:solidFill>
                <a:latin typeface="Urbanist"/>
              </a:rPr>
              <a:t> stacked layers for deeper abstraction.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2750" y="4937521"/>
            <a:ext cx="4657725" cy="1083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 dirty="0">
                <a:solidFill>
                  <a:srgbClr val="CBD5E1"/>
                </a:solidFill>
                <a:latin typeface="Urbanist"/>
              </a:rPr>
              <a:t>Bidirectional:</a:t>
            </a:r>
            <a:r>
              <a:rPr sz="18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lang="he-IL" sz="1800" b="0" i="0" u="none" dirty="0">
                <a:solidFill>
                  <a:srgbClr val="CBD5E1"/>
                </a:solidFill>
                <a:latin typeface="Urbanist"/>
              </a:rPr>
              <a:t>          </a:t>
            </a:r>
            <a:r>
              <a:rPr sz="1800" b="0" i="0" u="none" dirty="0">
                <a:solidFill>
                  <a:srgbClr val="CBD5E1"/>
                </a:solidFill>
                <a:latin typeface="Urbanist"/>
              </a:rPr>
              <a:t>Reads left-to-right AND right-to-left, concatenating results (512 total output dim).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3017639"/>
            <a:ext cx="11430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1401" y="3031830"/>
            <a:ext cx="495448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3987105"/>
            <a:ext cx="114300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1128" y="4001296"/>
            <a:ext cx="266848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4956571"/>
            <a:ext cx="114300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3820" y="4972990"/>
            <a:ext cx="609748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328267"/>
            <a:ext cx="5038725" cy="329684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2328267"/>
            <a:ext cx="5038725" cy="3296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The Freezing Dilemma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06175" y="6448425"/>
            <a:ext cx="4953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22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2623542"/>
            <a:ext cx="4670583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ExtraBold"/>
              </a:rPr>
              <a:t>Freeze = 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3128367"/>
            <a:ext cx="44481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Embedding layer weights are locked. The network must learn to classify using the </a:t>
            </a:r>
            <a:r>
              <a:rPr sz="1650" b="0" i="1" u="none">
                <a:solidFill>
                  <a:srgbClr val="CBD5E1"/>
                </a:solidFill>
                <a:latin typeface="Urbanist"/>
              </a:rPr>
              <a:t>existing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spatial relationships of GloVe or Word2Vec.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4324350"/>
            <a:ext cx="44481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Urbanist"/>
              </a:rPr>
              <a:t>Pros: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Faster training, heavily resists overfitting.</a:t>
            </a:r>
            <a:r>
              <a:t>
</a:t>
            </a:r>
            <a:r>
              <a:rPr sz="1650" b="1" i="0" u="none">
                <a:solidFill>
                  <a:srgbClr val="CBD5E1"/>
                </a:solidFill>
                <a:latin typeface="Urbanist"/>
              </a:rPr>
              <a:t>Cons: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Cannot adapt general word meanings to the specific dataset.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7025" y="2623542"/>
            <a:ext cx="4670583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EF4444"/>
                </a:solidFill>
                <a:latin typeface="Urbanist ExtraBold"/>
              </a:rPr>
              <a:t>Freeze = False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3128367"/>
            <a:ext cx="44481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Gradients propagate all the way back to the embeddings, shifting the word vectors around during training (Fine-tuning).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4324350"/>
            <a:ext cx="44481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Urbanist"/>
              </a:rPr>
              <a:t>Pros: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Highly tailored representations.</a:t>
            </a:r>
            <a:r>
              <a:t>
</a:t>
            </a:r>
            <a:r>
              <a:rPr sz="1650" b="1" i="0" u="none">
                <a:solidFill>
                  <a:srgbClr val="CBD5E1"/>
                </a:solidFill>
                <a:latin typeface="Urbanist"/>
              </a:rPr>
              <a:t>Cons: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Easy to destroy pretrained knowledge and massively overfit.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3105298"/>
            <a:ext cx="1238250" cy="242470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2625" y="3105298"/>
            <a:ext cx="1743075" cy="242470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8550" y="3105298"/>
            <a:ext cx="1495425" cy="242470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6826" y="3105298"/>
            <a:ext cx="1333500" cy="24247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24 Combinations Tested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15700" y="6448425"/>
            <a:ext cx="4857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23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2423368"/>
            <a:ext cx="10648950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0" i="0" u="none">
                <a:solidFill>
                  <a:srgbClr val="CBD5E1"/>
                </a:solidFill>
                <a:latin typeface="Urbanist"/>
              </a:rPr>
              <a:t>We automated a pipeline to test all possible architecture variations: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3962" y="3400573"/>
            <a:ext cx="350043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500" b="0" i="0" u="none">
                <a:solidFill>
                  <a:srgbClr val="38BDF8"/>
                </a:solidFill>
                <a:latin typeface="Urbanist Extra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4229248"/>
            <a:ext cx="64770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Models</a:t>
            </a:r>
            <a:r>
              <a:t>
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(CNN, LSTM)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39913" y="3955702"/>
            <a:ext cx="370046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50" b="0" i="0" u="none">
                <a:solidFill>
                  <a:srgbClr val="64748B"/>
                </a:solidFill>
                <a:latin typeface="Urbanist ExtraBold"/>
              </a:rP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6525" y="3400573"/>
            <a:ext cx="31003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500" b="0" i="0" u="none">
                <a:solidFill>
                  <a:srgbClr val="38BDF8"/>
                </a:solidFill>
                <a:latin typeface="Urbanist Extra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7900" y="4229248"/>
            <a:ext cx="11525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Embeddings</a:t>
            </a:r>
            <a:r>
              <a:t>
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(Rand, GloVe, W2V)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95838" y="3955702"/>
            <a:ext cx="370046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50" b="0" i="0" u="none">
                <a:solidFill>
                  <a:srgbClr val="64748B"/>
                </a:solidFill>
                <a:latin typeface="Urbanist ExtraBold"/>
              </a:rPr>
              <a:t>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59575" y="3400573"/>
            <a:ext cx="350043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500" b="0" i="0" u="none">
                <a:solidFill>
                  <a:srgbClr val="38BDF8"/>
                </a:solidFill>
                <a:latin typeface="Urbanist ExtraBol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73825" y="4229248"/>
            <a:ext cx="9048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States</a:t>
            </a:r>
            <a:r>
              <a:t>
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(Frozen, Unfrozen)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2214" y="3955702"/>
            <a:ext cx="290036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50" b="0" i="0" u="none">
                <a:solidFill>
                  <a:srgbClr val="64748B"/>
                </a:solidFill>
                <a:latin typeface="Urbanist ExtraBold"/>
              </a:rPr>
              <a:t>=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86875" y="3400573"/>
            <a:ext cx="751395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he-IL" sz="4500" dirty="0">
                <a:solidFill>
                  <a:srgbClr val="FFFFFF"/>
                </a:solidFill>
                <a:latin typeface="Urbanist ExtraBold"/>
              </a:rPr>
              <a:t>12</a:t>
            </a:r>
            <a:endParaRPr sz="4500" b="0" i="0" u="none" dirty="0">
              <a:solidFill>
                <a:srgbClr val="FFFFFF"/>
              </a:solidFill>
              <a:latin typeface="Urbanist ExtraBold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382101" y="4229248"/>
            <a:ext cx="7429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 dirty="0">
                <a:solidFill>
                  <a:srgbClr val="CBD5E1"/>
                </a:solidFill>
                <a:latin typeface="Urbanist"/>
              </a:rPr>
              <a:t>Runs per Dataset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FD801A-804C-F2BD-F16D-D13FA3446B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"/>
          <a:stretch>
            <a:fillRect/>
          </a:stretch>
        </p:blipFill>
        <p:spPr>
          <a:xfrm rot="16200000">
            <a:off x="2667641" y="-2666359"/>
            <a:ext cx="6856718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6840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97545D-3F97-AAB8-5732-89F90EC37B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"/>
          <a:stretch>
            <a:fillRect/>
          </a:stretch>
        </p:blipFill>
        <p:spPr>
          <a:xfrm rot="16200000">
            <a:off x="2667641" y="-2666359"/>
            <a:ext cx="6856718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0713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1676400"/>
            <a:ext cx="10648950" cy="46005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Rotten Tomatoes: DL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15700" y="6448425"/>
            <a:ext cx="4857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24 / 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3118544"/>
            <a:ext cx="10648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Highest achieved Test Accuracy across all combinations: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Rotten Tomatoes: Detailed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06175" y="6448425"/>
            <a:ext cx="4953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25 / 39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1525" y="2147143"/>
          <a:ext cx="10648948" cy="3658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9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6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6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55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787"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8BDF8"/>
                          </a:solidFill>
                          <a:latin typeface="Urbanist ExtraBold"/>
                        </a:rPr>
                        <a:t>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8BDF8"/>
                          </a:solidFill>
                          <a:latin typeface="Urbanist ExtraBold"/>
                        </a:rPr>
                        <a:t>Embedding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8BDF8"/>
                          </a:solidFill>
                          <a:latin typeface="Urbanist ExtraBold"/>
                        </a:rPr>
                        <a:t>Freeze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8BDF8"/>
                          </a:solidFill>
                          <a:latin typeface="Urbanist ExtraBold"/>
                        </a:rPr>
                        <a:t>Test Accuracy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787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LSTM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GloVe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False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34D399"/>
                          </a:solidFill>
                          <a:latin typeface="Urbanist"/>
                        </a:rPr>
                        <a:t>81.33%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787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LSTM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Word2Vec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False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79.55%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787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CNN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Word2Vec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False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79.74%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791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CNN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Random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True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EF4444"/>
                          </a:solidFill>
                          <a:latin typeface="Urbanist"/>
                        </a:rPr>
                        <a:t>68.57%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71525" y="2889051"/>
            <a:ext cx="19896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61208" y="2889051"/>
            <a:ext cx="307672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37932" y="2889051"/>
            <a:ext cx="202659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864524" y="2889051"/>
            <a:ext cx="35559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1525" y="3614737"/>
            <a:ext cx="19896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61208" y="3614737"/>
            <a:ext cx="307672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37932" y="3614737"/>
            <a:ext cx="202659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64524" y="3614737"/>
            <a:ext cx="35559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1525" y="4340423"/>
            <a:ext cx="19896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61208" y="4340423"/>
            <a:ext cx="307672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37932" y="4340423"/>
            <a:ext cx="202659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864524" y="4340423"/>
            <a:ext cx="35559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1525" y="5066109"/>
            <a:ext cx="19896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61208" y="5066109"/>
            <a:ext cx="307672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37932" y="5066109"/>
            <a:ext cx="202659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864524" y="5066109"/>
            <a:ext cx="35559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1525" y="5791795"/>
            <a:ext cx="19896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61208" y="5791795"/>
            <a:ext cx="307672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837932" y="5791795"/>
            <a:ext cx="202659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864524" y="5791795"/>
            <a:ext cx="35559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1676400"/>
            <a:ext cx="10648950" cy="46005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IMDB: DL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06175" y="6448425"/>
            <a:ext cx="4953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26 / 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3118544"/>
            <a:ext cx="10648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Highest achieved Test Accuracy across all combinations: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IMDB: Detailed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06175" y="6448425"/>
            <a:ext cx="4953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27 / 39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1525" y="2147143"/>
          <a:ext cx="10648948" cy="3658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9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6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6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55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787"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8BDF8"/>
                          </a:solidFill>
                          <a:latin typeface="Urbanist ExtraBold"/>
                        </a:rPr>
                        <a:t>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8BDF8"/>
                          </a:solidFill>
                          <a:latin typeface="Urbanist ExtraBold"/>
                        </a:rPr>
                        <a:t>Embedding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8BDF8"/>
                          </a:solidFill>
                          <a:latin typeface="Urbanist ExtraBold"/>
                        </a:rPr>
                        <a:t>Freeze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8BDF8"/>
                          </a:solidFill>
                          <a:latin typeface="Urbanist ExtraBold"/>
                        </a:rPr>
                        <a:t>Test Accuracy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787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CNN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Word2Vec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True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34D399"/>
                          </a:solidFill>
                          <a:latin typeface="Urbanist"/>
                        </a:rPr>
                        <a:t>87.68%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787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CNN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GloVe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False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85.56%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787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LSTM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Word2Vec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False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85.32%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791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LSTM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GloVe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True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EF4444"/>
                          </a:solidFill>
                          <a:latin typeface="Urbanist"/>
                        </a:rPr>
                        <a:t>83.27%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71525" y="2889051"/>
            <a:ext cx="19896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61208" y="2889051"/>
            <a:ext cx="307672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37932" y="2889051"/>
            <a:ext cx="202659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864524" y="2889051"/>
            <a:ext cx="35559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1525" y="3614737"/>
            <a:ext cx="19896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61208" y="3614737"/>
            <a:ext cx="307672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37932" y="3614737"/>
            <a:ext cx="202659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64524" y="3614737"/>
            <a:ext cx="35559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1525" y="4340423"/>
            <a:ext cx="19896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61208" y="4340423"/>
            <a:ext cx="307672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37932" y="4340423"/>
            <a:ext cx="202659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864524" y="4340423"/>
            <a:ext cx="35559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1525" y="5066109"/>
            <a:ext cx="19896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61208" y="5066109"/>
            <a:ext cx="307672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37932" y="5066109"/>
            <a:ext cx="202659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864524" y="5066109"/>
            <a:ext cx="35559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1525" y="5791795"/>
            <a:ext cx="19896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61208" y="5791795"/>
            <a:ext cx="307672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837932" y="5791795"/>
            <a:ext cx="202659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864524" y="5791795"/>
            <a:ext cx="35559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519660"/>
            <a:ext cx="5181600" cy="291405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5" y="2519660"/>
            <a:ext cx="5181600" cy="29140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Insight 1: The Text Length Paradox</a:t>
            </a:r>
          </a:p>
        </p:txBody>
      </p:sp>
      <p:sp>
        <p:nvSpPr>
          <p:cNvPr id="5" name="Rectangle 4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15700" y="6448425"/>
            <a:ext cx="4857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28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2814935"/>
            <a:ext cx="4820602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ExtraBold"/>
              </a:rPr>
              <a:t>Short Text (Rotten Tomatoes)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3319760"/>
            <a:ext cx="45910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Urbanist"/>
              </a:rPr>
              <a:t>Winner: LSTM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3797796"/>
            <a:ext cx="4591050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When sentences are extremely short, the exact sequence and context of every single word matters. The LSTM successfully tracked these dense relationships.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2814935"/>
            <a:ext cx="4820602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A78BFA"/>
                </a:solidFill>
                <a:latin typeface="Urbanist ExtraBold"/>
              </a:rPr>
              <a:t>Long Text (IMDB)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150" y="3319760"/>
            <a:ext cx="45910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Urbanist"/>
              </a:rPr>
              <a:t>Winner: CNN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4150" y="3797796"/>
            <a:ext cx="4591050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Over 200 words, LSTM gradients struggle and it loses context. The CNN, acting as an n-gram scanner, easily "fished" out key sentiment phrases regardless of where they appeared.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Tracking Progress Across Epochs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15700" y="6448425"/>
            <a:ext cx="4857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29 /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1716732"/>
            <a:ext cx="10648950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 i="0" u="none" dirty="0">
                <a:solidFill>
                  <a:srgbClr val="CBD5E1"/>
                </a:solidFill>
                <a:latin typeface="Urbanist"/>
              </a:rPr>
              <a:t>To understand model behavior, we tracked metrics across 5 epochs. This revealed critical differences between frozen and unfrozen layer</a:t>
            </a:r>
            <a:r>
              <a:rPr lang="en-US" sz="1650" dirty="0">
                <a:solidFill>
                  <a:srgbClr val="CBD5E1"/>
                </a:solidFill>
                <a:latin typeface="Urbanist"/>
              </a:rPr>
              <a:t>s </a:t>
            </a:r>
            <a:r>
              <a:rPr sz="1650" b="0" i="0" u="none" dirty="0">
                <a:solidFill>
                  <a:srgbClr val="CBD5E1"/>
                </a:solidFill>
                <a:latin typeface="Urbanist"/>
              </a:rPr>
              <a:t>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1525" y="2577554"/>
          <a:ext cx="10648948" cy="3658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2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78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7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912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787"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8BDF8"/>
                          </a:solidFill>
                          <a:latin typeface="Urbanist ExtraBold"/>
                        </a:rPr>
                        <a:t>Epoch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8BDF8"/>
                          </a:solidFill>
                          <a:latin typeface="Urbanist ExtraBold"/>
                        </a:rPr>
                        <a:t>Train Loss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8BDF8"/>
                          </a:solidFill>
                          <a:latin typeface="Urbanist ExtraBold"/>
                        </a:rPr>
                        <a:t>Train Acc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8BDF8"/>
                          </a:solidFill>
                          <a:latin typeface="Urbanist ExtraBold"/>
                        </a:rPr>
                        <a:t>Validation Acc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787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0.6802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68.0%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62.6%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787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0.3111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87.5%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88.3%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787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0.1658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94.1%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87.6%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791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...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...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...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...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1525" y="3319462"/>
            <a:ext cx="189264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664172" y="3319462"/>
            <a:ext cx="261788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282058" y="3319462"/>
            <a:ext cx="254719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29252" y="3319462"/>
            <a:ext cx="359122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1525" y="4045148"/>
            <a:ext cx="189264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664172" y="4045148"/>
            <a:ext cx="261788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282058" y="4045148"/>
            <a:ext cx="254719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29252" y="4045148"/>
            <a:ext cx="359122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1525" y="4770834"/>
            <a:ext cx="189264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664172" y="4770834"/>
            <a:ext cx="261788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282058" y="4770834"/>
            <a:ext cx="254719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829252" y="4770834"/>
            <a:ext cx="359122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1525" y="5496520"/>
            <a:ext cx="189264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664172" y="5496520"/>
            <a:ext cx="261788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282058" y="5496520"/>
            <a:ext cx="254719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829252" y="5496520"/>
            <a:ext cx="359122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1525" y="6222206"/>
            <a:ext cx="189264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664172" y="6222206"/>
            <a:ext cx="261788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282058" y="6222206"/>
            <a:ext cx="254719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829252" y="6222206"/>
            <a:ext cx="359122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3500437"/>
            <a:ext cx="5038725" cy="1508521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3500437"/>
            <a:ext cx="5038725" cy="15085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Insight 2: The Memorization Trap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06175" y="6448425"/>
            <a:ext cx="4953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30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2353865"/>
            <a:ext cx="106489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When unfreezing embeddings on IMDB (CNN + Word2Vec), the model stopped learning language and started memorizing specific reviews, causing severe overfitting.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5294709"/>
            <a:ext cx="106489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94A3B8"/>
                </a:solidFill>
                <a:latin typeface="Urbanist"/>
              </a:rPr>
              <a:t>* Data extracted directly from `imdb | CNN | Word2Vec | FreezeFalse` run logs.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650" y="3690937"/>
            <a:ext cx="484060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 dirty="0">
                <a:solidFill>
                  <a:srgbClr val="38BDF8"/>
                </a:solidFill>
                <a:latin typeface="Urbanist ExtraBold"/>
              </a:rPr>
              <a:t>Epoch </a:t>
            </a:r>
            <a:r>
              <a:rPr lang="he-IL" sz="2400" b="0" i="0" u="none" dirty="0">
                <a:solidFill>
                  <a:srgbClr val="38BDF8"/>
                </a:solidFill>
                <a:latin typeface="Urbanist ExtraBold"/>
              </a:rPr>
              <a:t>2</a:t>
            </a:r>
            <a:r>
              <a:rPr sz="2400" b="0" i="0" u="none" dirty="0">
                <a:solidFill>
                  <a:srgbClr val="38BDF8"/>
                </a:solidFill>
                <a:latin typeface="Urbanist ExtraBold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9650" y="4148137"/>
            <a:ext cx="4610100" cy="3059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CBD5E1"/>
                </a:solidFill>
                <a:latin typeface="Urbanist"/>
              </a:rPr>
              <a:t>Train Accuracy: </a:t>
            </a:r>
            <a:r>
              <a:rPr lang="he-IL" sz="1650" b="1" dirty="0">
                <a:solidFill>
                  <a:srgbClr val="FFFFFF"/>
                </a:solidFill>
                <a:latin typeface="Urbanist"/>
              </a:rPr>
              <a:t>87</a:t>
            </a:r>
            <a:r>
              <a:rPr sz="1650" b="1" i="0" u="none" dirty="0">
                <a:solidFill>
                  <a:srgbClr val="FFFFFF"/>
                </a:solidFill>
                <a:latin typeface="Urbanist"/>
              </a:rPr>
              <a:t>.</a:t>
            </a:r>
            <a:r>
              <a:rPr lang="he-IL" sz="1650" b="1" i="0" u="none" dirty="0">
                <a:solidFill>
                  <a:srgbClr val="FFFFFF"/>
                </a:solidFill>
                <a:latin typeface="Urbanist"/>
              </a:rPr>
              <a:t>5</a:t>
            </a:r>
            <a:r>
              <a:rPr sz="1650" b="1" i="0" u="none" dirty="0">
                <a:solidFill>
                  <a:srgbClr val="FFFFFF"/>
                </a:solidFill>
                <a:latin typeface="Urbanist"/>
              </a:rPr>
              <a:t>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9650" y="4483298"/>
            <a:ext cx="4610100" cy="3059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CBD5E1"/>
                </a:solidFill>
                <a:latin typeface="Urbanist"/>
              </a:rPr>
              <a:t>Validation Acc: </a:t>
            </a:r>
            <a:r>
              <a:rPr lang="he-IL" sz="1650" b="1" dirty="0">
                <a:solidFill>
                  <a:srgbClr val="FFFFFF"/>
                </a:solidFill>
                <a:latin typeface="Urbanist"/>
              </a:rPr>
              <a:t>88</a:t>
            </a:r>
            <a:r>
              <a:rPr sz="1650" b="1" i="0" u="none" dirty="0">
                <a:solidFill>
                  <a:srgbClr val="FFFFFF"/>
                </a:solidFill>
                <a:latin typeface="Urbanist"/>
              </a:rPr>
              <a:t>.</a:t>
            </a:r>
            <a:r>
              <a:rPr lang="he-IL" sz="1650" b="1" i="0" u="none" dirty="0">
                <a:solidFill>
                  <a:srgbClr val="FFFFFF"/>
                </a:solidFill>
                <a:latin typeface="Urbanist"/>
              </a:rPr>
              <a:t>3</a:t>
            </a:r>
            <a:r>
              <a:rPr sz="1650" b="1" i="0" u="none" dirty="0">
                <a:solidFill>
                  <a:srgbClr val="FFFFFF"/>
                </a:solidFill>
                <a:latin typeface="Urbanist"/>
              </a:rPr>
              <a:t>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9875" y="3690937"/>
            <a:ext cx="484060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EF4444"/>
                </a:solidFill>
                <a:latin typeface="Urbanist ExtraBold"/>
              </a:rPr>
              <a:t>Epoch 5 (Complete Overfit)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9875" y="4148137"/>
            <a:ext cx="46101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Train Accuracy: </a:t>
            </a:r>
            <a:r>
              <a:rPr sz="1650" b="1" i="0" u="none">
                <a:solidFill>
                  <a:srgbClr val="FFFFFF"/>
                </a:solidFill>
                <a:latin typeface="Urbanist"/>
              </a:rPr>
              <a:t>98.7%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9875" y="4483298"/>
            <a:ext cx="46101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Validation Acc: </a:t>
            </a:r>
            <a:r>
              <a:rPr sz="1650" b="1" i="0" u="none">
                <a:solidFill>
                  <a:srgbClr val="FFFFFF"/>
                </a:solidFill>
                <a:latin typeface="Urbanist"/>
              </a:rPr>
              <a:t>86.5%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(Stagnated)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DC41BC-9910-C55E-DF5E-F91C0C9611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06E56BB-C8E6-4F70-B8BF-921C4912D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97716"/>
            <a:ext cx="12192000" cy="64008"/>
          </a:xfrm>
          <a:prstGeom prst="rect">
            <a:avLst/>
          </a:prstGeom>
          <a:solidFill>
            <a:schemeClr val="tx2">
              <a:lumMod val="50000"/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643316-AB20-4DD1-8578-B5D7F033C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61952" y="3396997"/>
            <a:ext cx="6858002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315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363325" y="6448425"/>
            <a:ext cx="4381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31 / 39</a:t>
            </a:r>
          </a:p>
        </p:txBody>
      </p:sp>
      <p:sp>
        <p:nvSpPr>
          <p:cNvPr id="3" name="Rectangle 2"/>
          <p:cNvSpPr/>
          <p:nvPr/>
        </p:nvSpPr>
        <p:spPr>
          <a:xfrm>
            <a:off x="5381625" y="2496442"/>
            <a:ext cx="142875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395537" y="2820292"/>
            <a:ext cx="7400925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0" i="0" u="none">
                <a:solidFill>
                  <a:srgbClr val="38BDF8"/>
                </a:solidFill>
                <a:latin typeface="Urbanist ExtraBold"/>
              </a:rPr>
              <a:t>Phase 5: The Transformer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43362" y="3934717"/>
            <a:ext cx="4105275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0" i="0" u="none" dirty="0">
                <a:solidFill>
                  <a:srgbClr val="94A3B8"/>
                </a:solidFill>
                <a:latin typeface="Urbanist"/>
              </a:rPr>
              <a:t>Breaking the Ceiling with DistilBERT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1676400"/>
            <a:ext cx="5038725" cy="428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 dirty="0">
                <a:solidFill>
                  <a:srgbClr val="F8FAFC"/>
                </a:solidFill>
                <a:latin typeface="Urbanist ExtraBold"/>
              </a:rPr>
              <a:t>Enter DistilBERT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15700" y="6448425"/>
            <a:ext cx="4857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32 / 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1676400"/>
            <a:ext cx="5290661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ExtraBold"/>
              </a:rPr>
              <a:t>The Self-Attention Paradigm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2181225"/>
            <a:ext cx="50387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Instead of reading left-to-right (LSTM) or scanning small windows (CNN), Transformers use Self-Attention.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275" y="2066925"/>
            <a:ext cx="4257675" cy="3505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52525" y="2994421"/>
            <a:ext cx="465772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CBD5E1"/>
                </a:solidFill>
                <a:latin typeface="Urbanist"/>
              </a:rPr>
              <a:t>Every word looks at every other word in the sentence simultaneously.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3963888"/>
            <a:ext cx="465772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CBD5E1"/>
                </a:solidFill>
                <a:latin typeface="Urbanist"/>
              </a:rPr>
              <a:t>Builds rich, bidirectional contextual matrices instantly.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4933354"/>
            <a:ext cx="4657725" cy="1462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CBD5E1"/>
                </a:solidFill>
                <a:latin typeface="Urbanist"/>
              </a:rPr>
              <a:t>We used — a lighter version retaining 97% of BERT's language capacity.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3013471"/>
            <a:ext cx="11430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3982938"/>
            <a:ext cx="114300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4952404"/>
            <a:ext cx="114300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525" y="5337125"/>
            <a:ext cx="4153644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1676400"/>
            <a:ext cx="10648950" cy="46005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Transformer Results (Just 3 Epochs)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25225" y="6448425"/>
            <a:ext cx="4762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33 / 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5365402"/>
            <a:ext cx="1064895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 u="none" dirty="0">
                <a:solidFill>
                  <a:srgbClr val="34D399"/>
                </a:solidFill>
                <a:latin typeface="Urbanist"/>
              </a:rPr>
              <a:t>DistilBERT</a:t>
            </a:r>
            <a:r>
              <a:rPr lang="en-US" sz="1800" b="1" i="0" u="none" dirty="0">
                <a:solidFill>
                  <a:srgbClr val="34D399"/>
                </a:solidFill>
                <a:latin typeface="Urbanist"/>
              </a:rPr>
              <a:t> achieves the highest accuracy among all tested models</a:t>
            </a:r>
            <a:r>
              <a:rPr lang="en-US" b="1" dirty="0">
                <a:solidFill>
                  <a:srgbClr val="34D399"/>
                </a:solidFill>
                <a:latin typeface="Urbanist"/>
              </a:rPr>
              <a:t>.</a:t>
            </a:r>
            <a:endParaRPr sz="1800" b="1" i="0" u="none" dirty="0">
              <a:solidFill>
                <a:srgbClr val="34D399"/>
              </a:solidFill>
              <a:latin typeface="Urbanis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The Cost of Attention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15700" y="6448425"/>
            <a:ext cx="4857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34 /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3100387"/>
            <a:ext cx="2581275" cy="1333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500"/>
              </a:lnSpc>
            </a:pPr>
            <a:r>
              <a:rPr sz="10500" b="0" i="0" u="none">
                <a:solidFill>
                  <a:srgbClr val="A78BFA"/>
                </a:solidFill>
                <a:latin typeface="Urbanist ExtraBold"/>
              </a:rPr>
              <a:t>194s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4529137"/>
            <a:ext cx="258127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8FAFC"/>
                </a:solidFill>
                <a:latin typeface="Urbanist"/>
              </a:rPr>
              <a:t>Train Time per Epoch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24300" y="2958703"/>
            <a:ext cx="7870983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ExtraBold"/>
              </a:rPr>
              <a:t>Massive Compute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24300" y="3463528"/>
            <a:ext cx="74961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CBD5E1"/>
                </a:solidFill>
                <a:latin typeface="Urbanist"/>
              </a:rPr>
              <a:t>The accuracy gain comes at a severe computational cost. Training DistilBERT on IMDB took roughly 194 seconds per epoch.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24300" y="4324350"/>
            <a:ext cx="74961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Compare this to the CNN which took ~7 seconds, or Logistic Regression which took 0.5 seconds in total.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4895403"/>
            <a:ext cx="10648950" cy="138648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Insight 3: The Ultimate Trade-off (ROI)</a:t>
            </a:r>
          </a:p>
        </p:txBody>
      </p:sp>
      <p:sp>
        <p:nvSpPr>
          <p:cNvPr id="4" name="Rectangle 3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15700" y="6448425"/>
            <a:ext cx="4857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35 / 39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1525" y="1676400"/>
          <a:ext cx="10648948" cy="29332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9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32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21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39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3313"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8BDF8"/>
                          </a:solidFill>
                          <a:latin typeface="Urbanist ExtraBold"/>
                        </a:rPr>
                        <a:t>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8BDF8"/>
                          </a:solidFill>
                          <a:latin typeface="Urbanist ExtraBold"/>
                        </a:rPr>
                        <a:t>Accuracy (IMDB)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8BDF8"/>
                          </a:solidFill>
                          <a:latin typeface="Urbanist ExtraBold"/>
                        </a:rPr>
                        <a:t>Time (Epoch/Total)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8BDF8"/>
                          </a:solidFill>
                          <a:latin typeface="Urbanist ExtraBold"/>
                        </a:rPr>
                        <a:t>Complexity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3313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38BDF8"/>
                          </a:solidFill>
                          <a:latin typeface="Urbanist"/>
                        </a:rPr>
                        <a:t>Logistic Regression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89.35%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34D399"/>
                          </a:solidFill>
                          <a:latin typeface="Urbanist"/>
                        </a:rPr>
                        <a:t>0.53 seconds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Low (TF-IDF)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3313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A78BFA"/>
                          </a:solidFill>
                          <a:latin typeface="Urbanist"/>
                        </a:rPr>
                        <a:t>CNN + Word2Vec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87.68%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~6.9 seconds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Medium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314">
                <a:tc>
                  <a:txBody>
                    <a:bodyPr/>
                    <a:lstStyle/>
                    <a:p>
                      <a:pPr algn="l"/>
                      <a:r>
                        <a:rPr sz="1650" b="1" i="0" u="none" dirty="0">
                          <a:solidFill>
                            <a:srgbClr val="F8FAFC"/>
                          </a:solidFill>
                          <a:latin typeface="Urbanist"/>
                        </a:rPr>
                        <a:t>DistilBERT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34D399"/>
                          </a:solidFill>
                          <a:latin typeface="Urbanist"/>
                        </a:rPr>
                        <a:t>90.86%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EF4444"/>
                          </a:solidFill>
                          <a:latin typeface="Urbanist"/>
                        </a:rPr>
                        <a:t>194 seconds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Extreme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09650" y="5085903"/>
            <a:ext cx="102203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 dirty="0">
                <a:solidFill>
                  <a:srgbClr val="CBD5E1"/>
                </a:solidFill>
                <a:latin typeface="Urbanist"/>
              </a:rPr>
              <a:t>The Engineering Dilemma:</a:t>
            </a:r>
            <a:r>
              <a:rPr sz="1650" b="0" i="0" u="none" dirty="0">
                <a:solidFill>
                  <a:srgbClr val="CBD5E1"/>
                </a:solidFill>
                <a:latin typeface="Urbanist"/>
              </a:rPr>
              <a:t> Is a ~1.5% accuracy gain of DistilBERT over simple Logistic Regression worth a massive increase in compute time and cost? For massive scale deployments, Traditional ML remains incredibly potent.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1525" y="2418308"/>
            <a:ext cx="268991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61444" y="2418308"/>
            <a:ext cx="281329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74742" y="2418308"/>
            <a:ext cx="312181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396561" y="2418308"/>
            <a:ext cx="202391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1525" y="3143994"/>
            <a:ext cx="268991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61444" y="3143994"/>
            <a:ext cx="281329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74742" y="3143994"/>
            <a:ext cx="312181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396561" y="3143994"/>
            <a:ext cx="202391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1525" y="3869680"/>
            <a:ext cx="268991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461444" y="3869680"/>
            <a:ext cx="281329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74742" y="3869680"/>
            <a:ext cx="312181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96561" y="3869680"/>
            <a:ext cx="202391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1525" y="4595366"/>
            <a:ext cx="268991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461444" y="4595366"/>
            <a:ext cx="281329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74742" y="4595366"/>
            <a:ext cx="312181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396561" y="4595366"/>
            <a:ext cx="202391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327596-4C71-BBA1-C71C-D0D1D3632A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"/>
          <a:stretch>
            <a:fillRect/>
          </a:stretch>
        </p:blipFill>
        <p:spPr>
          <a:xfrm rot="16200000">
            <a:off x="2667641" y="-2666359"/>
            <a:ext cx="6856718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0207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5747444"/>
            <a:ext cx="10668000" cy="7620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5747444"/>
            <a:ext cx="76200" cy="762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3247132"/>
            <a:ext cx="298698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748980" y="3247132"/>
            <a:ext cx="256029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309270" y="3247132"/>
            <a:ext cx="256029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869560" y="3247132"/>
            <a:ext cx="256043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2000" y="3961507"/>
            <a:ext cx="298698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748980" y="3961507"/>
            <a:ext cx="256029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270" y="3961507"/>
            <a:ext cx="256029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869560" y="3961507"/>
            <a:ext cx="256043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2000" y="4675882"/>
            <a:ext cx="298698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748980" y="4675882"/>
            <a:ext cx="256029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270" y="4675882"/>
            <a:ext cx="256029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869560" y="4675882"/>
            <a:ext cx="256043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2000" y="5390257"/>
            <a:ext cx="298698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748980" y="5390257"/>
            <a:ext cx="256029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270" y="5390257"/>
            <a:ext cx="256029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869560" y="5390257"/>
            <a:ext cx="256043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5976044"/>
            <a:ext cx="342900" cy="3048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794694"/>
            <a:ext cx="238125" cy="2095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794694"/>
            <a:ext cx="238125" cy="20955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62000" y="1861244"/>
            <a:ext cx="10668000" cy="3543300"/>
          </a:xfrm>
          <a:prstGeom prst="roundRect">
            <a:avLst>
              <a:gd name="adj" fmla="val 0"/>
            </a:avLst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62000" y="1861244"/>
          <a:ext cx="10667999" cy="3543300"/>
        </p:xfrm>
        <a:graphic>
          <a:graphicData uri="http://schemas.openxmlformats.org/drawingml/2006/table">
            <a:tbl>
              <a:tblPr/>
              <a:tblGrid>
                <a:gridCol w="2986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F8FAFC"/>
                          </a:solidFill>
                          <a:latin typeface="Inter"/>
                        </a:rPr>
                        <a:t>Model Architecture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F8FAFC"/>
                          </a:solidFill>
                          <a:latin typeface="Inter"/>
                        </a:rPr>
                        <a:t>Best Eval Acc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F8FAFC"/>
                          </a:solidFill>
                          <a:latin typeface="Inter"/>
                        </a:rPr>
                        <a:t>Avg Epoch Time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F8FAFC"/>
                          </a:solidFill>
                          <a:latin typeface="Inter"/>
                        </a:rPr>
                        <a:t>Test Acc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FFFFFF"/>
                          </a:solidFill>
                          <a:latin typeface="Inter"/>
                        </a:rPr>
                        <a:t>RoBERTa-base</a:t>
                      </a:r>
                    </a:p>
                  </a:txBody>
                  <a:tcPr marL="4667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FFFFFF"/>
                          </a:solidFill>
                          <a:latin typeface="Inter"/>
                        </a:rPr>
                        <a:t>89.12% (Ep 3)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FFFFFF"/>
                          </a:solidFill>
                          <a:latin typeface="Inter"/>
                        </a:rPr>
                        <a:t>~65.2s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FFFFFF"/>
                          </a:solidFill>
                          <a:latin typeface="Inter"/>
                        </a:rPr>
                        <a:t>87.15%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BERT-base-uncased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86.87% (Ep 6)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~47.5s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85.18%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DistilBERT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84.90% (Ep 3)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~54.1s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84.99%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ALBERT-base-v2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86.49% (Ep 3)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~68.8s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84.90%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762000" y="348704"/>
            <a:ext cx="11430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DATASET 1 /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615404"/>
            <a:ext cx="1143000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1" i="0" u="none">
                <a:solidFill>
                  <a:srgbClr val="0F172A"/>
                </a:solidFill>
                <a:latin typeface="Inter"/>
              </a:rPr>
              <a:t>Rotten Tomatoes Performance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000" y="1232594"/>
            <a:ext cx="11430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475569"/>
                </a:solidFill>
                <a:latin typeface="Inter"/>
              </a:rPr>
              <a:t>Model accuracy and optimal epochs based on evaluation metrics.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76400" y="6004619"/>
            <a:ext cx="103822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Inter"/>
              </a:rPr>
              <a:t>RoBERTa achieves peak performance on Rotten Tomatoes. Highest test accuracy.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5747444"/>
            <a:ext cx="10668000" cy="7620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62000" y="5747444"/>
            <a:ext cx="76200" cy="762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62000" y="3247132"/>
            <a:ext cx="298698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748980" y="3247132"/>
            <a:ext cx="256029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309270" y="3247132"/>
            <a:ext cx="256029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869560" y="3247132"/>
            <a:ext cx="256043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2000" y="3961507"/>
            <a:ext cx="298698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748980" y="3961507"/>
            <a:ext cx="256029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309270" y="3961507"/>
            <a:ext cx="256029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869560" y="3961507"/>
            <a:ext cx="256043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2000" y="4675882"/>
            <a:ext cx="298698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748980" y="4675882"/>
            <a:ext cx="256029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309270" y="4675882"/>
            <a:ext cx="256029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869560" y="4675882"/>
            <a:ext cx="256043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62000" y="5390257"/>
            <a:ext cx="298698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748980" y="5390257"/>
            <a:ext cx="256029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309270" y="5390257"/>
            <a:ext cx="256029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869560" y="5390257"/>
            <a:ext cx="256043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5976044"/>
            <a:ext cx="266700" cy="3048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794694"/>
            <a:ext cx="238125" cy="2095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794694"/>
            <a:ext cx="238125" cy="20955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62000" y="1861244"/>
            <a:ext cx="10668000" cy="3543300"/>
          </a:xfrm>
          <a:prstGeom prst="roundRect">
            <a:avLst>
              <a:gd name="adj" fmla="val 0"/>
            </a:avLst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62000" y="1861244"/>
          <a:ext cx="10667999" cy="3543300"/>
        </p:xfrm>
        <a:graphic>
          <a:graphicData uri="http://schemas.openxmlformats.org/drawingml/2006/table">
            <a:tbl>
              <a:tblPr/>
              <a:tblGrid>
                <a:gridCol w="2986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F8FAFC"/>
                          </a:solidFill>
                          <a:latin typeface="Inter"/>
                        </a:rPr>
                        <a:t>Model Architecture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F8FAFC"/>
                          </a:solidFill>
                          <a:latin typeface="Inter"/>
                        </a:rPr>
                        <a:t>Best Eval Acc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F8FAFC"/>
                          </a:solidFill>
                          <a:latin typeface="Inter"/>
                        </a:rPr>
                        <a:t>Avg Epoch Time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F8FAFC"/>
                          </a:solidFill>
                          <a:latin typeface="Inter"/>
                        </a:rPr>
                        <a:t>Test Acc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FFFFFF"/>
                          </a:solidFill>
                          <a:latin typeface="Inter"/>
                        </a:rPr>
                        <a:t>RoBERTa-base</a:t>
                      </a:r>
                    </a:p>
                  </a:txBody>
                  <a:tcPr marL="4667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FFFFFF"/>
                          </a:solidFill>
                          <a:latin typeface="Inter"/>
                        </a:rPr>
                        <a:t>93.30% (Ep 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FFFFFF"/>
                          </a:solidFill>
                          <a:latin typeface="Inter"/>
                        </a:rPr>
                        <a:t>~240.6s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FFFFFF"/>
                          </a:solidFill>
                          <a:latin typeface="Inter"/>
                        </a:rPr>
                        <a:t>93.22%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BERT-base-uncased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91.94% (Ep 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~185.0s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91.80%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DistilBERT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90.90% (Ep 4)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~271.2s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90.59%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ALBERT-base-v2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90.80% (Ep 5)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~297.6s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90.57%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762000" y="348704"/>
            <a:ext cx="11430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3B82F6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DATASET 2 /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615404"/>
            <a:ext cx="1143000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9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IMDB Performance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000" y="1232594"/>
            <a:ext cx="11430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50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Model accuracy and optimal epochs based on evaluation metrics.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6004619"/>
            <a:ext cx="81438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5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Fast convergence on IMDB. RoBERTa and BERT peak at Epoch 1.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997648"/>
            <a:ext cx="7620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" y="1822251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TRAINING LOGS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250876"/>
            <a:ext cx="10101262" cy="1508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59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40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RoBERTa-Large Batch Size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987998"/>
            <a:ext cx="67627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Evaluating compute, memory, and accuracy tradeoffs between Batch Size 16 and 32.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86475" y="1857375"/>
            <a:ext cx="19050" cy="4391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2000" y="609600"/>
            <a:ext cx="11430000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Space Grotesk"/>
              </a:rPr>
              <a:t>The Core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952750"/>
            <a:ext cx="5893593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SPEED ADVANTAGE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381375"/>
            <a:ext cx="5893593" cy="914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sz="7200" b="1" i="0" u="none">
                <a:solidFill>
                  <a:srgbClr val="0F172A"/>
                </a:solidFill>
                <a:latin typeface="Space Grotesk"/>
              </a:rPr>
              <a:t>30%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524375"/>
            <a:ext cx="5893593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475569"/>
                </a:solidFill>
                <a:latin typeface="Inter"/>
              </a:rPr>
              <a:t>Faster total execution.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924425"/>
            <a:ext cx="589359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"/>
              </a:rPr>
              <a:t>Batch 32 completes in 54 minutes vs 78 minutes.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15125" y="2952750"/>
            <a:ext cx="547687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EF4444"/>
                </a:solidFill>
                <a:latin typeface="Inter"/>
              </a:rPr>
              <a:t>MEMORY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15125" y="3381375"/>
            <a:ext cx="5476875" cy="914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sz="7200" b="1" i="0" u="none">
                <a:solidFill>
                  <a:srgbClr val="0F172A"/>
                </a:solidFill>
                <a:latin typeface="Space Grotesk"/>
              </a:rPr>
              <a:t>1.8x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15125" y="4524375"/>
            <a:ext cx="5476875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475569"/>
                </a:solidFill>
                <a:latin typeface="Inter"/>
              </a:rPr>
              <a:t>Peak GPU memory required.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15125" y="4924425"/>
            <a:ext cx="54768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"/>
              </a:rPr>
              <a:t>Batch 32 demands 57.6 GB vs 30.8 GB.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i="0" u="none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Negligible Accuracy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8881" y="1809541"/>
            <a:ext cx="10909643" cy="687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</a:pPr>
            <a:r>
              <a:rPr lang="en-US" sz="24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Final test accuracy remains statistically equivalent across both datasets.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281860" y="2896335"/>
          <a:ext cx="9625235" cy="3060630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36898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7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76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0210">
                <a:tc>
                  <a:txBody>
                    <a:bodyPr/>
                    <a:lstStyle/>
                    <a:p>
                      <a:pPr algn="l"/>
                      <a:r>
                        <a:rPr sz="3300" b="1" i="0" u="none" cap="none" spc="0">
                          <a:solidFill>
                            <a:schemeClr val="tx1"/>
                          </a:solidFill>
                          <a:latin typeface="Inter"/>
                        </a:rPr>
                        <a:t>Dataset</a:t>
                      </a:r>
                    </a:p>
                  </a:txBody>
                  <a:tcPr marL="280198" marR="149679" marT="215537" marB="21553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3300" b="1" i="0" u="none" cap="none" spc="0">
                          <a:solidFill>
                            <a:schemeClr val="tx1"/>
                          </a:solidFill>
                          <a:latin typeface="Inter"/>
                        </a:rPr>
                        <a:t>Batch Size 16</a:t>
                      </a:r>
                    </a:p>
                  </a:txBody>
                  <a:tcPr marL="280198" marR="149679" marT="215537" marB="21553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3300" b="1" i="0" u="none" cap="none" spc="0">
                          <a:solidFill>
                            <a:schemeClr val="tx1"/>
                          </a:solidFill>
                          <a:latin typeface="Inter"/>
                        </a:rPr>
                        <a:t>Batch Size 32</a:t>
                      </a:r>
                    </a:p>
                  </a:txBody>
                  <a:tcPr marL="280198" marR="149679" marT="215537" marB="21553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0210">
                <a:tc>
                  <a:txBody>
                    <a:bodyPr/>
                    <a:lstStyle/>
                    <a:p>
                      <a:pPr algn="l"/>
                      <a:r>
                        <a:rPr sz="3300" b="1" i="0" u="none" cap="none" spc="0">
                          <a:solidFill>
                            <a:schemeClr val="tx1"/>
                          </a:solidFill>
                          <a:latin typeface="Inter"/>
                        </a:rPr>
                        <a:t>Rotten Tomatoes</a:t>
                      </a:r>
                    </a:p>
                  </a:txBody>
                  <a:tcPr marL="280198" marR="149679" marT="215537" marB="21553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3300" b="0" i="0" u="none" cap="none" spc="0">
                          <a:solidFill>
                            <a:schemeClr val="tx1"/>
                          </a:solidFill>
                          <a:latin typeface="Inter"/>
                        </a:rPr>
                        <a:t>91.28%</a:t>
                      </a:r>
                    </a:p>
                  </a:txBody>
                  <a:tcPr marL="280198" marR="149679" marT="215537" marB="21553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3300" b="1" i="0" u="none" cap="none" spc="0">
                          <a:solidFill>
                            <a:schemeClr val="tx1"/>
                          </a:solidFill>
                          <a:latin typeface="Inter"/>
                        </a:rPr>
                        <a:t>91.65%</a:t>
                      </a:r>
                    </a:p>
                  </a:txBody>
                  <a:tcPr marL="280198" marR="149679" marT="215537" marB="21553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0210">
                <a:tc>
                  <a:txBody>
                    <a:bodyPr/>
                    <a:lstStyle/>
                    <a:p>
                      <a:pPr algn="l"/>
                      <a:r>
                        <a:rPr sz="3300" b="1" i="0" u="none" cap="none" spc="0">
                          <a:solidFill>
                            <a:schemeClr val="tx1"/>
                          </a:solidFill>
                          <a:latin typeface="Inter"/>
                        </a:rPr>
                        <a:t>IMDB</a:t>
                      </a:r>
                    </a:p>
                  </a:txBody>
                  <a:tcPr marL="280198" marR="149679" marT="215537" marB="21553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3300" b="0" i="0" u="none" cap="none" spc="0">
                          <a:solidFill>
                            <a:schemeClr val="tx1"/>
                          </a:solidFill>
                          <a:latin typeface="Inter"/>
                        </a:rPr>
                        <a:t>96.10%</a:t>
                      </a:r>
                    </a:p>
                  </a:txBody>
                  <a:tcPr marL="280198" marR="149679" marT="215537" marB="21553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3300" b="1" i="0" u="none" cap="none" spc="0">
                          <a:solidFill>
                            <a:schemeClr val="tx1"/>
                          </a:solidFill>
                          <a:latin typeface="Inter"/>
                        </a:rPr>
                        <a:t>96.25%</a:t>
                      </a:r>
                    </a:p>
                  </a:txBody>
                  <a:tcPr marL="280198" marR="149679" marT="215537" marB="21553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00" y="2228850"/>
            <a:ext cx="9105900" cy="4572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4100" y="2800350"/>
            <a:ext cx="9105900" cy="457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4100" y="4391025"/>
            <a:ext cx="91059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4100" y="4962525"/>
            <a:ext cx="91059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609600"/>
            <a:ext cx="11430000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Space Grotesk"/>
              </a:rPr>
              <a:t>Resource Utilization Breakdown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704975"/>
            <a:ext cx="1143000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34155"/>
                </a:solidFill>
                <a:latin typeface="Space Grotesk"/>
              </a:rPr>
              <a:t>Total Runtime (Seconds)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867150"/>
            <a:ext cx="1143000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34155"/>
                </a:solidFill>
                <a:latin typeface="Space Grotesk"/>
              </a:rPr>
              <a:t>Peak GPU Memory (GB)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343150"/>
            <a:ext cx="16668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475569"/>
                </a:solidFill>
                <a:latin typeface="Inter"/>
              </a:rPr>
              <a:t>Batch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914650"/>
            <a:ext cx="16668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475569"/>
                </a:solidFill>
                <a:latin typeface="Inter"/>
              </a:rPr>
              <a:t>Batch 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505325"/>
            <a:ext cx="16668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475569"/>
                </a:solidFill>
                <a:latin typeface="Inter"/>
              </a:rPr>
              <a:t>Batch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076825"/>
            <a:ext cx="16668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475569"/>
                </a:solidFill>
                <a:latin typeface="Inter"/>
              </a:rPr>
              <a:t>Batch 32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315700" y="6448425"/>
            <a:ext cx="4857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36 / 39</a:t>
            </a:r>
          </a:p>
        </p:txBody>
      </p:sp>
      <p:sp>
        <p:nvSpPr>
          <p:cNvPr id="3" name="Rectangle 2"/>
          <p:cNvSpPr/>
          <p:nvPr/>
        </p:nvSpPr>
        <p:spPr>
          <a:xfrm>
            <a:off x="5381625" y="2496442"/>
            <a:ext cx="142875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960483" y="2820292"/>
            <a:ext cx="8271033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0" i="0" u="none">
                <a:solidFill>
                  <a:srgbClr val="38BDF8"/>
                </a:solidFill>
                <a:latin typeface="Urbanist ExtraBold"/>
              </a:rPr>
              <a:t>Phase 6: Project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9075" y="3934717"/>
            <a:ext cx="4133850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0" i="0" u="none">
                <a:solidFill>
                  <a:srgbClr val="94A3B8"/>
                </a:solidFill>
                <a:latin typeface="Urbanist"/>
              </a:rPr>
              <a:t>Behind the scenes of the codebase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591097"/>
            <a:ext cx="5181600" cy="277117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5" y="2591097"/>
            <a:ext cx="5181600" cy="27711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Code Architecture &amp; Modularity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15700" y="6448425"/>
            <a:ext cx="4857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37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2886372"/>
            <a:ext cx="4820602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ExtraBold"/>
              </a:rPr>
              <a:t>Separation of Concerns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3391197"/>
            <a:ext cx="4591050" cy="1639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he-IL" sz="1650" b="0" i="0" u="none" dirty="0">
                <a:solidFill>
                  <a:srgbClr val="CBD5E1"/>
                </a:solidFill>
                <a:latin typeface="Urbanist"/>
              </a:rPr>
              <a:t>                     </a:t>
            </a:r>
            <a:r>
              <a:rPr sz="1650" b="0" i="0" u="none" dirty="0">
                <a:solidFill>
                  <a:srgbClr val="CBD5E1"/>
                </a:solidFill>
                <a:latin typeface="Urbanist"/>
              </a:rPr>
              <a:t>acts as the single source of truth for all hyperparameters.</a:t>
            </a:r>
            <a:endParaRPr lang="he-IL" sz="1650" b="0" i="0" u="none" dirty="0">
              <a:solidFill>
                <a:srgbClr val="CBD5E1"/>
              </a:solidFill>
              <a:latin typeface="Urbanist"/>
            </a:endParaRPr>
          </a:p>
          <a:p>
            <a:pPr algn="l">
              <a:lnSpc>
                <a:spcPts val="2640"/>
              </a:lnSpc>
            </a:pPr>
            <a:r>
              <a:rPr lang="he-IL" sz="1650" b="0" i="0" u="none" dirty="0">
                <a:solidFill>
                  <a:srgbClr val="CBD5E1"/>
                </a:solidFill>
                <a:latin typeface="Urbanist"/>
              </a:rPr>
              <a:t>                    </a:t>
            </a:r>
            <a:r>
              <a:rPr sz="165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lang="he-IL" sz="1650" b="0" i="0" u="none" dirty="0">
                <a:solidFill>
                  <a:srgbClr val="CBD5E1"/>
                </a:solidFill>
                <a:latin typeface="Urbanist"/>
              </a:rPr>
              <a:t>                                                   </a:t>
            </a:r>
            <a:r>
              <a:rPr sz="1650" b="0" i="0" u="none" dirty="0">
                <a:solidFill>
                  <a:srgbClr val="CBD5E1"/>
                </a:solidFill>
                <a:latin typeface="Urbanist"/>
              </a:rPr>
              <a:t>Data loading () and text normalization () are strictly isolated from the math networks.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2886372"/>
            <a:ext cx="4820602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ExtraBold"/>
              </a:rPr>
              <a:t>Unified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3391197"/>
            <a:ext cx="4591050" cy="1306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CBD5E1"/>
                </a:solidFill>
                <a:latin typeface="Urbanist"/>
              </a:rPr>
              <a:t>Using</a:t>
            </a:r>
            <a:r>
              <a:rPr lang="he-IL" sz="1650" b="0" i="0" u="none" dirty="0">
                <a:solidFill>
                  <a:srgbClr val="CBD5E1"/>
                </a:solidFill>
                <a:latin typeface="Urbanist"/>
              </a:rPr>
              <a:t>   </a:t>
            </a:r>
            <a:r>
              <a:rPr lang="en-US" sz="165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lang="he-IL" sz="1650" b="0" i="0" u="none" dirty="0">
                <a:solidFill>
                  <a:srgbClr val="CBD5E1"/>
                </a:solidFill>
                <a:latin typeface="Urbanist"/>
              </a:rPr>
              <a:t>                    </a:t>
            </a:r>
            <a:r>
              <a:rPr sz="1650" b="0" i="0" u="none" dirty="0">
                <a:solidFill>
                  <a:srgbClr val="CBD5E1"/>
                </a:solidFill>
                <a:latin typeface="Urbanist"/>
              </a:rPr>
              <a:t>and</a:t>
            </a:r>
            <a:r>
              <a:rPr lang="he-IL" sz="1650" b="0" i="0" u="none" dirty="0">
                <a:solidFill>
                  <a:srgbClr val="CBD5E1"/>
                </a:solidFill>
                <a:latin typeface="Urbanist"/>
              </a:rPr>
              <a:t>                  </a:t>
            </a:r>
            <a:r>
              <a:rPr sz="1650" b="0" i="0" u="none" dirty="0">
                <a:solidFill>
                  <a:srgbClr val="CBD5E1"/>
                </a:solidFill>
                <a:latin typeface="Urbanist"/>
              </a:rPr>
              <a:t> , we established a standardized training loop. This allowed us to execute and log all 26 deep learning combinations automatically.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431083"/>
            <a:ext cx="1181397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748" y="4116647"/>
            <a:ext cx="1752897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415" y="4071793"/>
            <a:ext cx="1867197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8975" y="3428366"/>
            <a:ext cx="1295697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9497" y="3410247"/>
            <a:ext cx="952648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25225" y="6448425"/>
            <a:ext cx="4762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38 /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525" y="2220515"/>
            <a:ext cx="102679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CBD5E1"/>
                </a:solidFill>
                <a:latin typeface="Urbanist"/>
              </a:rPr>
              <a:t>Baseline vs. Deep Learning:</a:t>
            </a:r>
            <a:r>
              <a:rPr sz="1800" b="0" i="0" u="none">
                <a:solidFill>
                  <a:srgbClr val="CBD5E1"/>
                </a:solidFill>
                <a:latin typeface="Urbanist"/>
              </a:rPr>
              <a:t> Traditional ML (LR + TF-IDF) is remarkably fast and powerful, providing a very tough baseline to beat on long texts.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525" y="3189982"/>
            <a:ext cx="102679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CBD5E1"/>
                </a:solidFill>
                <a:latin typeface="Urbanist"/>
              </a:rPr>
              <a:t>Context Matters:</a:t>
            </a:r>
            <a:r>
              <a:rPr sz="1800" b="0" i="0" u="none">
                <a:solidFill>
                  <a:srgbClr val="CBD5E1"/>
                </a:solidFill>
                <a:latin typeface="Urbanist"/>
              </a:rPr>
              <a:t> LSTM shines on short, dense text; CNN excels at fast feature extraction over long documents.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525" y="4159448"/>
            <a:ext cx="102679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CBD5E1"/>
                </a:solidFill>
                <a:latin typeface="Urbanist"/>
              </a:rPr>
              <a:t>Regularization:</a:t>
            </a:r>
            <a:r>
              <a:rPr sz="1800" b="0" i="0" u="none">
                <a:solidFill>
                  <a:srgbClr val="CBD5E1"/>
                </a:solidFill>
                <a:latin typeface="Urbanist"/>
              </a:rPr>
              <a:t> Unfreezing embeddings without massive datasets leads directly to memorization instead of learning.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525" y="5128914"/>
            <a:ext cx="1026795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CBD5E1"/>
                </a:solidFill>
                <a:latin typeface="Urbanist"/>
              </a:rPr>
              <a:t>Transformers:</a:t>
            </a:r>
            <a:r>
              <a:rPr sz="1800" b="0" i="0" u="none">
                <a:solidFill>
                  <a:srgbClr val="CBD5E1"/>
                </a:solidFill>
                <a:latin typeface="Urbanist"/>
              </a:rPr>
              <a:t> Easily top the accuracy charts, but demand careful consideration of computational ROI.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239565"/>
            <a:ext cx="11430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3209032"/>
            <a:ext cx="11430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4178498"/>
            <a:ext cx="11430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5147964"/>
            <a:ext cx="1143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325225" y="6448425"/>
            <a:ext cx="4762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39 / 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1525" y="581025"/>
            <a:ext cx="11181397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8FAFC"/>
                </a:solidFill>
                <a:latin typeface="Urbanist ExtraBold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1525" y="1047750"/>
            <a:ext cx="106489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2700" b="0" i="0" u="none">
                <a:solidFill>
                  <a:srgbClr val="94A3B8"/>
                </a:solidFill>
                <a:latin typeface="Urbanist"/>
              </a:rPr>
              <a:t>Thank you for your attention.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2072580"/>
            <a:ext cx="106489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64748B"/>
                </a:solidFill>
                <a:latin typeface="Urbanist"/>
              </a:rPr>
              <a:t>End of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2180</Words>
  <Application>Microsoft Office PowerPoint</Application>
  <PresentationFormat>Widescreen</PresentationFormat>
  <Paragraphs>390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7" baseType="lpstr">
      <vt:lpstr>Arial</vt:lpstr>
      <vt:lpstr>Calibri</vt:lpstr>
      <vt:lpstr>Inter</vt:lpstr>
      <vt:lpstr>Space Grotesk</vt:lpstr>
      <vt:lpstr>Urbanist</vt:lpstr>
      <vt:lpstr>Urbanist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א ג</dc:creator>
  <cp:keywords/>
  <dc:description>generated using python-pptx</dc:description>
  <cp:lastModifiedBy>Or Hachaim Gol</cp:lastModifiedBy>
  <cp:revision>6</cp:revision>
  <dcterms:created xsi:type="dcterms:W3CDTF">2013-01-27T09:14:16Z</dcterms:created>
  <dcterms:modified xsi:type="dcterms:W3CDTF">2026-09-27T13:46:05Z</dcterms:modified>
  <cp:category/>
</cp:coreProperties>
</file>