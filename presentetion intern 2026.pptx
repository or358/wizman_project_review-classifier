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99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7" r:id="rId24"/>
    <p:sldId id="278" r:id="rId25"/>
    <p:sldId id="296" r:id="rId26"/>
    <p:sldId id="297" r:id="rId27"/>
    <p:sldId id="279" r:id="rId28"/>
    <p:sldId id="280" r:id="rId29"/>
    <p:sldId id="281" r:id="rId30"/>
    <p:sldId id="282" r:id="rId31"/>
    <p:sldId id="283" r:id="rId32"/>
    <p:sldId id="284" r:id="rId33"/>
    <p:sldId id="285" r:id="rId34"/>
    <p:sldId id="300" r:id="rId35"/>
    <p:sldId id="286" r:id="rId36"/>
    <p:sldId id="287" r:id="rId37"/>
    <p:sldId id="288" r:id="rId38"/>
    <p:sldId id="289" r:id="rId39"/>
    <p:sldId id="290" r:id="rId40"/>
    <p:sldId id="295" r:id="rId41"/>
    <p:sldId id="291" r:id="rId42"/>
    <p:sldId id="292" r:id="rId43"/>
    <p:sldId id="293" r:id="rId44"/>
    <p:sldId id="294" r:id="rId4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presProps" Target="pres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1.png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.png"/><Relationship Id="rId5" Type="http://schemas.openxmlformats.org/officeDocument/2006/relationships/image" Target="../media/image1.png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.png"/><Relationship Id="rId4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image" Target="../media/image12.png"/><Relationship Id="rId7" Type="http://schemas.openxmlformats.org/officeDocument/2006/relationships/image" Target="../media/image16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10" Type="http://schemas.openxmlformats.org/officeDocument/2006/relationships/image" Target="../media/image19.png"/><Relationship Id="rId4" Type="http://schemas.openxmlformats.org/officeDocument/2006/relationships/image" Target="../media/image13.png"/><Relationship Id="rId9" Type="http://schemas.openxmlformats.org/officeDocument/2006/relationships/image" Target="../media/image18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jp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7" Type="http://schemas.openxmlformats.org/officeDocument/2006/relationships/image" Target="../media/image29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8.png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3.png"/><Relationship Id="rId4" Type="http://schemas.openxmlformats.org/officeDocument/2006/relationships/image" Target="../media/image32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6.png"/><Relationship Id="rId4" Type="http://schemas.openxmlformats.org/officeDocument/2006/relationships/image" Target="../media/image1.png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9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2.png"/><Relationship Id="rId5" Type="http://schemas.openxmlformats.org/officeDocument/2006/relationships/image" Target="../media/image41.png"/><Relationship Id="rId4" Type="http://schemas.openxmlformats.org/officeDocument/2006/relationships/image" Target="../media/image1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7" Type="http://schemas.openxmlformats.org/officeDocument/2006/relationships/image" Target="../media/image46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5.png"/><Relationship Id="rId5" Type="http://schemas.openxmlformats.org/officeDocument/2006/relationships/image" Target="../media/image44.png"/><Relationship Id="rId4" Type="http://schemas.openxmlformats.org/officeDocument/2006/relationships/image" Target="../media/image1.png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1.png"/><Relationship Id="rId4" Type="http://schemas.openxmlformats.org/officeDocument/2006/relationships/image" Target="../media/image50.png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2.jp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3.jp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png"/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9.jpg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png"/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62.png"/><Relationship Id="rId4" Type="http://schemas.openxmlformats.org/officeDocument/2006/relationships/image" Target="../media/image1.png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3.png"/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4.png"/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5.jpg"/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7.png"/><Relationship Id="rId7" Type="http://schemas.openxmlformats.org/officeDocument/2006/relationships/image" Target="../media/image70.png"/><Relationship Id="rId2" Type="http://schemas.openxmlformats.org/officeDocument/2006/relationships/image" Target="../media/image6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9.png"/><Relationship Id="rId5" Type="http://schemas.openxmlformats.org/officeDocument/2006/relationships/image" Target="../media/image10.png"/><Relationship Id="rId4" Type="http://schemas.openxmlformats.org/officeDocument/2006/relationships/image" Target="../media/image68.png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9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1449050" y="6448425"/>
            <a:ext cx="352425" cy="2095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64748B"/>
                </a:solidFill>
                <a:latin typeface="Urbanist"/>
              </a:rPr>
              <a:t>1 / 39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1525" y="2366069"/>
            <a:ext cx="11181397" cy="15085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5940"/>
              </a:lnSpc>
            </a:pPr>
            <a:r>
              <a:rPr sz="5400" b="0" i="0" u="none">
                <a:solidFill>
                  <a:srgbClr val="F8FAFC"/>
                </a:solidFill>
                <a:latin typeface="Urbanist ExtraBold"/>
              </a:rPr>
              <a:t>Comprehensive</a:t>
            </a:r>
            <a:r>
              <a:t>
</a:t>
            </a:r>
            <a:r>
              <a:rPr sz="5400" b="0" i="0" u="none">
                <a:solidFill>
                  <a:srgbClr val="38BDF8"/>
                </a:solidFill>
                <a:latin typeface="Urbanist ExtraBold"/>
              </a:rPr>
              <a:t>Sentiment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1525" y="4065091"/>
            <a:ext cx="10648950" cy="4266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3359"/>
              </a:lnSpc>
            </a:pPr>
            <a:r>
              <a:rPr sz="2100" b="0" i="0" u="none">
                <a:solidFill>
                  <a:srgbClr val="94A3B8"/>
                </a:solidFill>
                <a:latin typeface="Urbanist"/>
              </a:rPr>
              <a:t>An End-to-End Comparative Study: From Traditional ML to Transformers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9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71525" y="581025"/>
            <a:ext cx="11181397" cy="571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600" b="0" i="0" u="none">
                <a:solidFill>
                  <a:srgbClr val="F8FAFC"/>
                </a:solidFill>
                <a:latin typeface="Urbanist ExtraBold"/>
              </a:rPr>
              <a:t>Agenda &amp; Logical Flow</a:t>
            </a:r>
          </a:p>
        </p:txBody>
      </p:sp>
      <p:sp>
        <p:nvSpPr>
          <p:cNvPr id="3" name="Rectangle 2"/>
          <p:cNvSpPr/>
          <p:nvPr/>
        </p:nvSpPr>
        <p:spPr>
          <a:xfrm>
            <a:off x="771525" y="1276350"/>
            <a:ext cx="10648950" cy="19050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1401425" y="6448425"/>
            <a:ext cx="400050" cy="2095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64748B"/>
                </a:solidFill>
                <a:latin typeface="Urbanist"/>
              </a:rPr>
              <a:t>2 / 39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52525" y="2165300"/>
            <a:ext cx="10267950" cy="3656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sz="1800" b="1" i="0" u="none">
                <a:solidFill>
                  <a:srgbClr val="CBD5E1"/>
                </a:solidFill>
                <a:latin typeface="Urbanist"/>
              </a:rPr>
              <a:t>Phase 1: Foundation</a:t>
            </a:r>
            <a:r>
              <a:rPr sz="1800" b="0" i="0" u="none">
                <a:solidFill>
                  <a:srgbClr val="CBD5E1"/>
                </a:solidFill>
                <a:latin typeface="Urbanist"/>
              </a:rPr>
              <a:t> - Datasets &amp; Text Normalization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52525" y="2769096"/>
            <a:ext cx="10267950" cy="3656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sz="1800" b="1" i="0" u="none">
                <a:solidFill>
                  <a:srgbClr val="CBD5E1"/>
                </a:solidFill>
                <a:latin typeface="Urbanist"/>
              </a:rPr>
              <a:t>Phase 2: Traditional ML (Baseline)</a:t>
            </a:r>
            <a:r>
              <a:rPr sz="1800" b="0" i="0" u="none">
                <a:solidFill>
                  <a:srgbClr val="CBD5E1"/>
                </a:solidFill>
                <a:latin typeface="Urbanist"/>
              </a:rPr>
              <a:t> - TF-IDF, LR, SVM, and Decision Trees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52525" y="3372891"/>
            <a:ext cx="10267950" cy="3656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sz="1800" b="1" i="0" u="none">
                <a:solidFill>
                  <a:srgbClr val="CBD5E1"/>
                </a:solidFill>
                <a:latin typeface="Urbanist"/>
              </a:rPr>
              <a:t>Phase 3: Word Embeddings</a:t>
            </a:r>
            <a:r>
              <a:rPr sz="1800" b="0" i="0" u="none">
                <a:solidFill>
                  <a:srgbClr val="CBD5E1"/>
                </a:solidFill>
                <a:latin typeface="Urbanist"/>
              </a:rPr>
              <a:t> - The bridging representation for Deep Learning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52525" y="3976687"/>
            <a:ext cx="10267950" cy="3656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sz="1800" b="1" i="0" u="none">
                <a:solidFill>
                  <a:srgbClr val="CBD5E1"/>
                </a:solidFill>
                <a:latin typeface="Urbanist"/>
              </a:rPr>
              <a:t>Phase 4: Deep Learning</a:t>
            </a:r>
            <a:r>
              <a:rPr sz="1800" b="0" i="0" u="none">
                <a:solidFill>
                  <a:srgbClr val="CBD5E1"/>
                </a:solidFill>
                <a:latin typeface="Urbanist"/>
              </a:rPr>
              <a:t> - CNN, LSTM, and the Freezing Dilemma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52525" y="4580483"/>
            <a:ext cx="10267950" cy="3656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sz="1800" b="1" i="0" u="none" dirty="0">
                <a:solidFill>
                  <a:srgbClr val="CBD5E1"/>
                </a:solidFill>
                <a:latin typeface="Urbanist"/>
              </a:rPr>
              <a:t>Phase 5: The Transformer</a:t>
            </a:r>
            <a:r>
              <a:rPr sz="1800" b="0" i="0" u="none" dirty="0">
                <a:solidFill>
                  <a:srgbClr val="CBD5E1"/>
                </a:solidFill>
                <a:latin typeface="Urbanist"/>
              </a:rPr>
              <a:t> - DistilBERT Evaluation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52525" y="5184278"/>
            <a:ext cx="10267950" cy="3656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sz="1800" b="1" i="0" u="none">
                <a:solidFill>
                  <a:srgbClr val="CBD5E1"/>
                </a:solidFill>
                <a:latin typeface="Urbanist"/>
              </a:rPr>
              <a:t>Phase 6: Engineering Conclusions</a:t>
            </a:r>
            <a:r>
              <a:rPr sz="1800" b="0" i="0" u="none">
                <a:solidFill>
                  <a:srgbClr val="CBD5E1"/>
                </a:solidFill>
                <a:latin typeface="Urbanist"/>
              </a:rPr>
              <a:t> - Trade-offs and Architecture</a:t>
            </a:r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1525" y="2184350"/>
            <a:ext cx="114300" cy="247650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1525" y="2788146"/>
            <a:ext cx="114300" cy="247650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1525" y="3391941"/>
            <a:ext cx="114300" cy="247650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1525" y="3995737"/>
            <a:ext cx="114300" cy="247650"/>
          </a:xfrm>
          <a:prstGeom prst="rect">
            <a:avLst/>
          </a:prstGeom>
        </p:spPr>
      </p:pic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1525" y="4599533"/>
            <a:ext cx="114300" cy="247650"/>
          </a:xfrm>
          <a:prstGeom prst="rect">
            <a:avLst/>
          </a:prstGeom>
        </p:spPr>
      </p:pic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1525" y="5203328"/>
            <a:ext cx="114300" cy="24765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9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1410950" y="6448425"/>
            <a:ext cx="390525" cy="2095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64748B"/>
                </a:solidFill>
                <a:latin typeface="Urbanist"/>
              </a:rPr>
              <a:t>3 / 39</a:t>
            </a:r>
          </a:p>
        </p:txBody>
      </p:sp>
      <p:sp>
        <p:nvSpPr>
          <p:cNvPr id="3" name="Rectangle 2"/>
          <p:cNvSpPr/>
          <p:nvPr/>
        </p:nvSpPr>
        <p:spPr>
          <a:xfrm>
            <a:off x="5381625" y="2496442"/>
            <a:ext cx="1428750" cy="38100"/>
          </a:xfrm>
          <a:prstGeom prst="rect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305401" y="2820292"/>
            <a:ext cx="9581197" cy="7334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4800" b="0" i="0" u="none">
                <a:solidFill>
                  <a:srgbClr val="38BDF8"/>
                </a:solidFill>
                <a:latin typeface="Urbanist ExtraBold"/>
              </a:rPr>
              <a:t>Phase 1: Text Classification Setup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76562" y="3934717"/>
            <a:ext cx="6238875" cy="4266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3359"/>
              </a:lnSpc>
            </a:pPr>
            <a:r>
              <a:rPr sz="2100" b="0" i="0" u="none">
                <a:solidFill>
                  <a:srgbClr val="94A3B8"/>
                </a:solidFill>
                <a:latin typeface="Urbanist"/>
              </a:rPr>
              <a:t>Datasets, Normalization, and Architecture constraints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9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81750" y="1833562"/>
            <a:ext cx="5038725" cy="428625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71525" y="581025"/>
            <a:ext cx="11181397" cy="571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600" b="0" i="0" u="none">
                <a:solidFill>
                  <a:srgbClr val="F8FAFC"/>
                </a:solidFill>
                <a:latin typeface="Urbanist ExtraBold"/>
              </a:rPr>
              <a:t>Dataset 1: IMDB Movie Reviews</a:t>
            </a:r>
          </a:p>
        </p:txBody>
      </p:sp>
      <p:sp>
        <p:nvSpPr>
          <p:cNvPr id="4" name="Rectangle 3"/>
          <p:cNvSpPr/>
          <p:nvPr/>
        </p:nvSpPr>
        <p:spPr>
          <a:xfrm>
            <a:off x="771525" y="1276350"/>
            <a:ext cx="10648950" cy="19050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401425" y="6448425"/>
            <a:ext cx="400050" cy="2095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64748B"/>
                </a:solidFill>
                <a:latin typeface="Urbanist"/>
              </a:rPr>
              <a:t>4 / 39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1525" y="1833562"/>
            <a:ext cx="5290661" cy="361950"/>
          </a:xfrm>
          <a:prstGeom prst="rect">
            <a:avLst/>
          </a:prstGeom>
          <a:noFill/>
        </p:spPr>
        <p:txBody>
          <a:bodyPr wrap="square" lIns="409575" tIns="0" rIns="0" bIns="0" anchor="t">
            <a:spAutoFit/>
          </a:bodyPr>
          <a:lstStyle/>
          <a:p>
            <a:pPr algn="l"/>
            <a:r>
              <a:rPr sz="2400" b="0" i="0" u="none">
                <a:solidFill>
                  <a:srgbClr val="38BDF8"/>
                </a:solidFill>
                <a:latin typeface="Urbanist ExtraBold"/>
              </a:rPr>
              <a:t>Characteristics</a:t>
            </a: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72275" y="2224087"/>
            <a:ext cx="4257675" cy="350520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1525" y="1852612"/>
            <a:ext cx="266700" cy="3048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152525" y="2338387"/>
            <a:ext cx="4657725" cy="3656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sz="1800" b="1" i="0" u="none">
                <a:solidFill>
                  <a:srgbClr val="CBD5E1"/>
                </a:solidFill>
                <a:latin typeface="Urbanist"/>
              </a:rPr>
              <a:t>Source:</a:t>
            </a:r>
            <a:r>
              <a:rPr sz="1800" b="0" i="0" u="none">
                <a:solidFill>
                  <a:srgbClr val="CBD5E1"/>
                </a:solidFill>
                <a:latin typeface="Urbanist"/>
              </a:rPr>
              <a:t> via HuggingFace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52525" y="2942183"/>
            <a:ext cx="4657725" cy="3656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sz="1800" b="1" i="0" u="none">
                <a:solidFill>
                  <a:srgbClr val="CBD5E1"/>
                </a:solidFill>
                <a:latin typeface="Urbanist"/>
              </a:rPr>
              <a:t>Structure:</a:t>
            </a:r>
            <a:r>
              <a:rPr sz="1800" b="0" i="0" u="none">
                <a:solidFill>
                  <a:srgbClr val="CBD5E1"/>
                </a:solidFill>
                <a:latin typeface="Urbanist"/>
              </a:rPr>
              <a:t> Long, highly detailed paragraphs.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52525" y="3545978"/>
            <a:ext cx="4657725" cy="73134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sz="1800" b="1" i="0" u="none">
                <a:solidFill>
                  <a:srgbClr val="CBD5E1"/>
                </a:solidFill>
                <a:latin typeface="Urbanist"/>
              </a:rPr>
              <a:t>Content:</a:t>
            </a:r>
            <a:r>
              <a:rPr sz="1800" b="0" i="0" u="none">
                <a:solidFill>
                  <a:srgbClr val="CBD5E1"/>
                </a:solidFill>
                <a:latin typeface="Urbanist"/>
              </a:rPr>
              <a:t> Often contains extensive neutral plot summaries alongside emotional opinions.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52525" y="4515445"/>
            <a:ext cx="4657725" cy="10970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sz="1800" b="1" i="0" u="none">
                <a:solidFill>
                  <a:srgbClr val="CBD5E1"/>
                </a:solidFill>
                <a:latin typeface="Urbanist"/>
              </a:rPr>
              <a:t>Challenge:</a:t>
            </a:r>
            <a:r>
              <a:rPr sz="1800" b="0" i="0" u="none">
                <a:solidFill>
                  <a:srgbClr val="CBD5E1"/>
                </a:solidFill>
                <a:latin typeface="Urbanist"/>
              </a:rPr>
              <a:t> Requires the model to maintain long-term memory and filter out non-sentiment noise over hundreds of words.</a:t>
            </a:r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1525" y="2357437"/>
            <a:ext cx="114300" cy="247650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481387" y="2376487"/>
            <a:ext cx="1981497" cy="304800"/>
          </a:xfrm>
          <a:prstGeom prst="rect">
            <a:avLst/>
          </a:prstGeom>
        </p:spPr>
      </p:pic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1525" y="2961233"/>
            <a:ext cx="114300" cy="247650"/>
          </a:xfrm>
          <a:prstGeom prst="rect">
            <a:avLst/>
          </a:prstGeom>
        </p:spPr>
      </p:pic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1525" y="3565028"/>
            <a:ext cx="114300" cy="247650"/>
          </a:xfrm>
          <a:prstGeom prst="rect">
            <a:avLst/>
          </a:prstGeom>
        </p:spPr>
      </p:pic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1525" y="4534495"/>
            <a:ext cx="114300" cy="24765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9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81750" y="1833562"/>
            <a:ext cx="5038725" cy="428625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71525" y="581025"/>
            <a:ext cx="11181397" cy="571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600" b="0" i="0" u="none">
                <a:solidFill>
                  <a:srgbClr val="F8FAFC"/>
                </a:solidFill>
                <a:latin typeface="Urbanist ExtraBold"/>
              </a:rPr>
              <a:t>Dataset 2: Rotten Tomatoes</a:t>
            </a:r>
          </a:p>
        </p:txBody>
      </p:sp>
      <p:sp>
        <p:nvSpPr>
          <p:cNvPr id="4" name="Rectangle 3"/>
          <p:cNvSpPr/>
          <p:nvPr/>
        </p:nvSpPr>
        <p:spPr>
          <a:xfrm>
            <a:off x="771525" y="1276350"/>
            <a:ext cx="10648950" cy="19050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401425" y="6448425"/>
            <a:ext cx="400050" cy="2095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64748B"/>
                </a:solidFill>
                <a:latin typeface="Urbanist"/>
              </a:rPr>
              <a:t>5 / 39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1525" y="1833562"/>
            <a:ext cx="5290661" cy="361950"/>
          </a:xfrm>
          <a:prstGeom prst="rect">
            <a:avLst/>
          </a:prstGeom>
          <a:noFill/>
        </p:spPr>
        <p:txBody>
          <a:bodyPr wrap="square" lIns="485775" tIns="0" rIns="0" bIns="0" anchor="t">
            <a:spAutoFit/>
          </a:bodyPr>
          <a:lstStyle/>
          <a:p>
            <a:pPr algn="l"/>
            <a:r>
              <a:rPr sz="2400" b="0" i="0" u="none">
                <a:solidFill>
                  <a:srgbClr val="38BDF8"/>
                </a:solidFill>
                <a:latin typeface="Urbanist ExtraBold"/>
              </a:rPr>
              <a:t>Characteristics</a:t>
            </a: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72275" y="2224087"/>
            <a:ext cx="4257675" cy="350520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1525" y="1852612"/>
            <a:ext cx="342900" cy="3048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152525" y="2338387"/>
            <a:ext cx="4657725" cy="3656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sz="1800" b="1" i="0" u="none">
                <a:solidFill>
                  <a:srgbClr val="CBD5E1"/>
                </a:solidFill>
                <a:latin typeface="Urbanist"/>
              </a:rPr>
              <a:t>Source: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52525" y="2942183"/>
            <a:ext cx="4657725" cy="73134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sz="1800" b="1" i="0" u="none">
                <a:solidFill>
                  <a:srgbClr val="CBD5E1"/>
                </a:solidFill>
                <a:latin typeface="Urbanist"/>
              </a:rPr>
              <a:t>Structure:</a:t>
            </a:r>
            <a:r>
              <a:rPr sz="1800" b="0" i="0" u="none">
                <a:solidFill>
                  <a:srgbClr val="CBD5E1"/>
                </a:solidFill>
                <a:latin typeface="Urbanist"/>
              </a:rPr>
              <a:t> Extremely short, dense, and heavily edited text snippets.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52525" y="3911649"/>
            <a:ext cx="4657725" cy="3656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sz="1800" b="1" i="0" u="none">
                <a:solidFill>
                  <a:srgbClr val="CBD5E1"/>
                </a:solidFill>
                <a:latin typeface="Urbanist"/>
              </a:rPr>
              <a:t>Content:</a:t>
            </a:r>
            <a:r>
              <a:rPr sz="1800" b="0" i="0" u="none">
                <a:solidFill>
                  <a:srgbClr val="CBD5E1"/>
                </a:solidFill>
                <a:latin typeface="Urbanist"/>
              </a:rPr>
              <a:t> Direct, punchy opinions without fluff.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52525" y="4515445"/>
            <a:ext cx="4657725" cy="10970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sz="1800" b="1" i="0" u="none">
                <a:solidFill>
                  <a:srgbClr val="CBD5E1"/>
                </a:solidFill>
                <a:latin typeface="Urbanist"/>
              </a:rPr>
              <a:t>Challenge:</a:t>
            </a:r>
            <a:r>
              <a:rPr sz="1800" b="0" i="0" u="none">
                <a:solidFill>
                  <a:srgbClr val="CBD5E1"/>
                </a:solidFill>
                <a:latin typeface="Urbanist"/>
              </a:rPr>
              <a:t> Because of the brevity, missing or misinterpreting a single critical word can flip the predicted sentiment entirely.</a:t>
            </a:r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1525" y="2357437"/>
            <a:ext cx="114300" cy="247650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962150" y="2428874"/>
            <a:ext cx="1867197" cy="304800"/>
          </a:xfrm>
          <a:prstGeom prst="rect">
            <a:avLst/>
          </a:prstGeom>
        </p:spPr>
      </p:pic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1525" y="2961233"/>
            <a:ext cx="114300" cy="247650"/>
          </a:xfrm>
          <a:prstGeom prst="rect">
            <a:avLst/>
          </a:prstGeom>
        </p:spPr>
      </p:pic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1525" y="3930699"/>
            <a:ext cx="114300" cy="247650"/>
          </a:xfrm>
          <a:prstGeom prst="rect">
            <a:avLst/>
          </a:prstGeom>
        </p:spPr>
      </p:pic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1525" y="4534495"/>
            <a:ext cx="114300" cy="24765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9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81750" y="1833562"/>
            <a:ext cx="5038725" cy="428625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71525" y="581025"/>
            <a:ext cx="11181397" cy="571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600" b="0" i="0" u="none">
                <a:solidFill>
                  <a:srgbClr val="F8FAFC"/>
                </a:solidFill>
                <a:latin typeface="Urbanist ExtraBold"/>
              </a:rPr>
              <a:t>Text Normalization Pipeline</a:t>
            </a:r>
          </a:p>
        </p:txBody>
      </p:sp>
      <p:sp>
        <p:nvSpPr>
          <p:cNvPr id="4" name="Rectangle 3"/>
          <p:cNvSpPr/>
          <p:nvPr/>
        </p:nvSpPr>
        <p:spPr>
          <a:xfrm>
            <a:off x="771525" y="1276350"/>
            <a:ext cx="10648950" cy="19050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401425" y="6448425"/>
            <a:ext cx="400050" cy="2095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64748B"/>
                </a:solidFill>
                <a:latin typeface="Urbanist"/>
              </a:rPr>
              <a:t>6 / 39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1525" y="1833562"/>
            <a:ext cx="5038725" cy="6703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sz="1650" b="0" i="0" u="none">
                <a:solidFill>
                  <a:srgbClr val="CBD5E1"/>
                </a:solidFill>
                <a:latin typeface="Urbanist"/>
              </a:rPr>
              <a:t>Raw web data is messy. We built to handle:</a:t>
            </a: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72275" y="2224087"/>
            <a:ext cx="4257675" cy="350520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94478" y="2199083"/>
            <a:ext cx="1867197" cy="3048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152525" y="2694384"/>
            <a:ext cx="4657725" cy="73134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sz="1800" b="1" i="0" u="none">
                <a:solidFill>
                  <a:srgbClr val="CBD5E1"/>
                </a:solidFill>
                <a:latin typeface="Urbanist"/>
              </a:rPr>
              <a:t>HTML Stripping:</a:t>
            </a:r>
            <a:r>
              <a:rPr sz="1800" b="0" i="0" u="none">
                <a:solidFill>
                  <a:srgbClr val="CBD5E1"/>
                </a:solidFill>
                <a:latin typeface="Urbanist"/>
              </a:rPr>
              <a:t> Removing artifacts like  common in the IMDB dataset.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52525" y="3663850"/>
            <a:ext cx="4657725" cy="73134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sz="1800" b="1" i="0" u="none">
                <a:solidFill>
                  <a:srgbClr val="CBD5E1"/>
                </a:solidFill>
                <a:latin typeface="Urbanist"/>
              </a:rPr>
              <a:t>Lowercasing:</a:t>
            </a:r>
            <a:r>
              <a:rPr sz="1800" b="0" i="0" u="none">
                <a:solidFill>
                  <a:srgbClr val="CBD5E1"/>
                </a:solidFill>
                <a:latin typeface="Urbanist"/>
              </a:rPr>
              <a:t> Ensuring "The" and "the" map to the same mathematical representation.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52525" y="4633317"/>
            <a:ext cx="4657725" cy="10970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sz="1800" b="1" i="0" u="none">
                <a:solidFill>
                  <a:srgbClr val="CBD5E1"/>
                </a:solidFill>
                <a:latin typeface="Urbanist"/>
              </a:rPr>
              <a:t>Punctuation Separation:</a:t>
            </a:r>
            <a:r>
              <a:rPr sz="1800" b="0" i="0" u="none">
                <a:solidFill>
                  <a:srgbClr val="CBD5E1"/>
                </a:solidFill>
                <a:latin typeface="Urbanist"/>
              </a:rPr>
              <a:t> Detaching symbols so "bad!" doesn't become a unique token distinct from "bad".</a:t>
            </a:r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1525" y="2713434"/>
            <a:ext cx="114300" cy="247650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1525" y="3682900"/>
            <a:ext cx="114300" cy="247650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1525" y="4652367"/>
            <a:ext cx="114300" cy="24765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9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71525" y="581025"/>
            <a:ext cx="11181397" cy="571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600" b="0" i="0" u="none">
                <a:solidFill>
                  <a:srgbClr val="F8FAFC"/>
                </a:solidFill>
                <a:latin typeface="Urbanist ExtraBold"/>
              </a:rPr>
              <a:t>Hyperparameter: Sequence Length</a:t>
            </a:r>
          </a:p>
        </p:txBody>
      </p:sp>
      <p:sp>
        <p:nvSpPr>
          <p:cNvPr id="3" name="Rectangle 2"/>
          <p:cNvSpPr/>
          <p:nvPr/>
        </p:nvSpPr>
        <p:spPr>
          <a:xfrm>
            <a:off x="771525" y="1276350"/>
            <a:ext cx="10648950" cy="19050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1401425" y="6448425"/>
            <a:ext cx="400050" cy="2095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64748B"/>
                </a:solidFill>
                <a:latin typeface="Urbanist"/>
              </a:rPr>
              <a:t>7 / 39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1525" y="3100387"/>
            <a:ext cx="2409825" cy="1333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0500"/>
              </a:lnSpc>
            </a:pPr>
            <a:r>
              <a:rPr sz="10500" b="0" i="0" u="none">
                <a:solidFill>
                  <a:srgbClr val="A78BFA"/>
                </a:solidFill>
                <a:latin typeface="Urbanist ExtraBold"/>
              </a:rPr>
              <a:t>200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1525" y="4529137"/>
            <a:ext cx="2409825" cy="3238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100" b="0" i="0" u="none">
                <a:solidFill>
                  <a:srgbClr val="F8FAFC"/>
                </a:solidFill>
                <a:latin typeface="Urbanist"/>
              </a:rPr>
              <a:t>MAX_SEQ_LENGTH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752850" y="2863453"/>
            <a:ext cx="8051006" cy="3619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400" b="0" i="0" u="none">
                <a:solidFill>
                  <a:srgbClr val="38BDF8"/>
                </a:solidFill>
                <a:latin typeface="Urbanist ExtraBold"/>
              </a:rPr>
              <a:t>Standardizing Input Tensors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752850" y="3368278"/>
            <a:ext cx="7667625" cy="335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sz="1650" b="0" i="0" u="none">
                <a:solidFill>
                  <a:srgbClr val="CBD5E1"/>
                </a:solidFill>
                <a:latin typeface="Urbanist"/>
              </a:rPr>
              <a:t>Neural networks demand fixed-size inputs. We set the limit to 200 words per review.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752850" y="3893939"/>
            <a:ext cx="7667625" cy="335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sz="1650" b="1" i="0" u="none">
                <a:solidFill>
                  <a:srgbClr val="CBD5E1"/>
                </a:solidFill>
                <a:latin typeface="Urbanist"/>
              </a:rPr>
              <a:t>Padding:</a:t>
            </a:r>
            <a:r>
              <a:rPr sz="1650" b="0" i="0" u="none">
                <a:solidFill>
                  <a:srgbClr val="CBD5E1"/>
                </a:solidFill>
                <a:latin typeface="Urbanist"/>
              </a:rPr>
              <a:t> Reviews shorter than 200 words are padded with a zero-index  token.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752850" y="4419600"/>
            <a:ext cx="7667625" cy="6703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sz="1650" b="1" i="0" u="none">
                <a:solidFill>
                  <a:srgbClr val="CBD5E1"/>
                </a:solidFill>
                <a:latin typeface="Urbanist"/>
              </a:rPr>
              <a:t>Truncation:</a:t>
            </a:r>
            <a:r>
              <a:rPr sz="1650" b="0" i="0" u="none">
                <a:solidFill>
                  <a:srgbClr val="CBD5E1"/>
                </a:solidFill>
                <a:latin typeface="Urbanist"/>
              </a:rPr>
              <a:t> Reviews longer than 200 words are chopped. This means we might lose concluding thoughts in IMDB, presenting a known limitation.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9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1410950" y="6448425"/>
            <a:ext cx="390525" cy="2095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64748B"/>
                </a:solidFill>
                <a:latin typeface="Urbanist"/>
              </a:rPr>
              <a:t>8 / 39</a:t>
            </a:r>
          </a:p>
        </p:txBody>
      </p:sp>
      <p:sp>
        <p:nvSpPr>
          <p:cNvPr id="3" name="Rectangle 2"/>
          <p:cNvSpPr/>
          <p:nvPr/>
        </p:nvSpPr>
        <p:spPr>
          <a:xfrm>
            <a:off x="5381625" y="2496442"/>
            <a:ext cx="1428750" cy="38100"/>
          </a:xfrm>
          <a:prstGeom prst="rect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690574" y="2820292"/>
            <a:ext cx="6810851" cy="7334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4800" b="0" i="0" u="none">
                <a:solidFill>
                  <a:srgbClr val="38BDF8"/>
                </a:solidFill>
                <a:latin typeface="Urbanist ExtraBold"/>
              </a:rPr>
              <a:t>Phase 2: Traditional ML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86237" y="3934717"/>
            <a:ext cx="3819525" cy="4266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3359"/>
              </a:lnSpc>
            </a:pPr>
            <a:r>
              <a:rPr sz="2100" b="0" i="0" u="none">
                <a:solidFill>
                  <a:srgbClr val="94A3B8"/>
                </a:solidFill>
                <a:latin typeface="Urbanist"/>
              </a:rPr>
              <a:t>Establishing Our Baseline Metrics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9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71525" y="581025"/>
            <a:ext cx="11181397" cy="571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600" b="0" i="0" u="none">
                <a:solidFill>
                  <a:srgbClr val="F8FAFC"/>
                </a:solidFill>
                <a:latin typeface="Urbanist ExtraBold"/>
              </a:rPr>
              <a:t>TF-IDF Vectorization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771525" y="1276350"/>
            <a:ext cx="10648950" cy="19050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1410950" y="6448425"/>
            <a:ext cx="390525" cy="2095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64748B"/>
                </a:solidFill>
                <a:latin typeface="Urbanist"/>
              </a:rPr>
              <a:t>9 / 39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1525" y="3100387"/>
            <a:ext cx="3086100" cy="1333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0500"/>
              </a:lnSpc>
            </a:pPr>
            <a:r>
              <a:rPr sz="10500" b="0" i="0" u="none">
                <a:solidFill>
                  <a:srgbClr val="A78BFA"/>
                </a:solidFill>
                <a:latin typeface="Urbanist ExtraBold"/>
              </a:rPr>
              <a:t>5000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1525" y="4529137"/>
            <a:ext cx="3086100" cy="3238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100" b="0" i="0" u="none">
                <a:solidFill>
                  <a:srgbClr val="F8FAFC"/>
                </a:solidFill>
                <a:latin typeface="Urbanist"/>
              </a:rPr>
              <a:t>MAX_FEATURES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429125" y="2791122"/>
            <a:ext cx="7340917" cy="3619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400" b="0" i="0" u="none">
                <a:solidFill>
                  <a:srgbClr val="38BDF8"/>
                </a:solidFill>
                <a:latin typeface="Urbanist ExtraBold"/>
              </a:rPr>
              <a:t>Bridging Text and Classical Math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429125" y="3295947"/>
            <a:ext cx="6991350" cy="6703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sz="1650" b="0" i="0" u="none">
                <a:solidFill>
                  <a:srgbClr val="CBD5E1"/>
                </a:solidFill>
                <a:latin typeface="Urbanist"/>
              </a:rPr>
              <a:t>Traditional models cannot ingest raw sequence matrices. We collapsed the text into sparse vectors using Term Frequency-Inverse Document Frequency.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29125" y="4156769"/>
            <a:ext cx="6991350" cy="100548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sz="1650" b="0" i="0" u="none">
                <a:solidFill>
                  <a:srgbClr val="CBD5E1"/>
                </a:solidFill>
                <a:latin typeface="Urbanist"/>
              </a:rPr>
              <a:t>We capped the extraction at 5000 features. This prevents memory overflow while retaining the most statistically powerful sentiment markers (e.g., "terrible", "masterpiece").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9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1525" y="2233910"/>
            <a:ext cx="3359199" cy="3485554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16474" y="2233910"/>
            <a:ext cx="3359199" cy="3485554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61424" y="2233910"/>
            <a:ext cx="3359199" cy="348555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71525" y="581025"/>
            <a:ext cx="11181397" cy="571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600" b="0" i="0" u="none">
                <a:solidFill>
                  <a:srgbClr val="F8FAFC"/>
                </a:solidFill>
                <a:latin typeface="Urbanist ExtraBold"/>
              </a:rPr>
              <a:t>Traditional Models Evaluated</a:t>
            </a:r>
          </a:p>
        </p:txBody>
      </p:sp>
      <p:sp>
        <p:nvSpPr>
          <p:cNvPr id="6" name="Rectangle 5"/>
          <p:cNvSpPr/>
          <p:nvPr/>
        </p:nvSpPr>
        <p:spPr>
          <a:xfrm>
            <a:off x="771525" y="1276350"/>
            <a:ext cx="10648950" cy="19050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1344275" y="6448425"/>
            <a:ext cx="457200" cy="2095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64748B"/>
                </a:solidFill>
                <a:latin typeface="Urbanist"/>
              </a:rPr>
              <a:t>10 / 39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66800" y="2529185"/>
            <a:ext cx="2768649" cy="3810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066800" y="3100685"/>
            <a:ext cx="2907082" cy="3619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400" b="0" i="0" u="none">
                <a:solidFill>
                  <a:srgbClr val="38BDF8"/>
                </a:solidFill>
                <a:latin typeface="Urbanist ExtraBold"/>
              </a:rPr>
              <a:t>Logistic Regression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6800" y="4083546"/>
            <a:ext cx="2768649" cy="100548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sz="1650" b="0" i="0" u="none">
                <a:solidFill>
                  <a:srgbClr val="CBD5E1"/>
                </a:solidFill>
                <a:latin typeface="Urbanist"/>
              </a:rPr>
              <a:t>Fast, linear model. Exceptional at finding direct correlations with specific TF-IDF keywords.</a:t>
            </a:r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11749" y="2529185"/>
            <a:ext cx="2768649" cy="38100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4711749" y="3100685"/>
            <a:ext cx="2907082" cy="3619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400" b="0" i="0" u="none">
                <a:solidFill>
                  <a:srgbClr val="38BDF8"/>
                </a:solidFill>
                <a:latin typeface="Urbanist ExtraBold"/>
              </a:rPr>
              <a:t>Linear SVM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11749" y="4083546"/>
            <a:ext cx="2768649" cy="134064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sz="1650" b="0" i="0" u="none">
                <a:solidFill>
                  <a:srgbClr val="CBD5E1"/>
                </a:solidFill>
                <a:latin typeface="Urbanist"/>
              </a:rPr>
              <a:t>Finds the optimal mathematical hyper-plane to separate positive and negative vectors.</a:t>
            </a:r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356699" y="2529185"/>
            <a:ext cx="2768649" cy="38100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8356699" y="3100685"/>
            <a:ext cx="2907082" cy="3619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400" b="0" i="0" u="none">
                <a:solidFill>
                  <a:srgbClr val="38BDF8"/>
                </a:solidFill>
                <a:latin typeface="Urbanist ExtraBold"/>
              </a:rPr>
              <a:t>Decision Tree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56699" y="4083546"/>
            <a:ext cx="2768649" cy="100548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sz="1650" b="0" i="0" u="none">
                <a:solidFill>
                  <a:srgbClr val="CBD5E1"/>
                </a:solidFill>
                <a:latin typeface="Urbanist"/>
              </a:rPr>
              <a:t>Capped depth strictly at 20 to prevent massive overfitting on the training set.</a:t>
            </a:r>
          </a:p>
        </p:txBody>
      </p:sp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66800" y="3620690"/>
            <a:ext cx="2438846" cy="304800"/>
          </a:xfrm>
          <a:prstGeom prst="rect">
            <a:avLst/>
          </a:prstGeom>
        </p:spPr>
      </p:pic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711749" y="3624560"/>
            <a:ext cx="724048" cy="304800"/>
          </a:xfrm>
          <a:prstGeom prst="rect">
            <a:avLst/>
          </a:prstGeom>
        </p:spPr>
      </p:pic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356699" y="3624560"/>
            <a:ext cx="1524297" cy="3048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9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1525" y="1676400"/>
            <a:ext cx="10648950" cy="4600575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1525" y="4761607"/>
            <a:ext cx="10648950" cy="1051321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71525" y="581025"/>
            <a:ext cx="11181397" cy="571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600" b="0" i="0" u="none">
                <a:solidFill>
                  <a:srgbClr val="F8FAFC"/>
                </a:solidFill>
                <a:latin typeface="Urbanist ExtraBold"/>
              </a:rPr>
              <a:t>Results: Traditional ML (Rotten Tomatoes)</a:t>
            </a:r>
          </a:p>
        </p:txBody>
      </p:sp>
      <p:sp>
        <p:nvSpPr>
          <p:cNvPr id="5" name="Rectangle 4"/>
          <p:cNvSpPr/>
          <p:nvPr/>
        </p:nvSpPr>
        <p:spPr>
          <a:xfrm>
            <a:off x="771525" y="1276350"/>
            <a:ext cx="10648950" cy="19050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401425" y="6448425"/>
            <a:ext cx="400050" cy="2095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64748B"/>
                </a:solidFill>
                <a:latin typeface="Urbanist"/>
              </a:rPr>
              <a:t>11 / 39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1525" y="2140446"/>
            <a:ext cx="10648950" cy="335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sz="1650" b="0" i="0" u="none">
                <a:solidFill>
                  <a:srgbClr val="CBD5E1"/>
                </a:solidFill>
                <a:latin typeface="Urbanist"/>
              </a:rPr>
              <a:t>Performance on short, dense, context-heavy sentences: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9650" y="4952107"/>
            <a:ext cx="10220325" cy="6703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sz="1650" b="1" i="0" u="none">
                <a:solidFill>
                  <a:srgbClr val="CBD5E1"/>
                </a:solidFill>
                <a:latin typeface="Urbanist"/>
              </a:rPr>
              <a:t>Observation:</a:t>
            </a:r>
            <a:r>
              <a:rPr sz="1650" b="0" i="0" u="none">
                <a:solidFill>
                  <a:srgbClr val="CBD5E1"/>
                </a:solidFill>
                <a:latin typeface="Urbanist"/>
              </a:rPr>
              <a:t> Short sentences lack enough repeated keyword frequency for TF-IDF to shine. The models struggle without deep context.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9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1525" y="1676400"/>
            <a:ext cx="10648950" cy="4600575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1525" y="4761607"/>
            <a:ext cx="10648950" cy="1051321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71525" y="581025"/>
            <a:ext cx="11181397" cy="571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600" b="0" i="0" u="none">
                <a:solidFill>
                  <a:srgbClr val="F8FAFC"/>
                </a:solidFill>
                <a:latin typeface="Urbanist ExtraBold"/>
              </a:rPr>
              <a:t>Results: Traditional ML (IMDB)</a:t>
            </a:r>
          </a:p>
        </p:txBody>
      </p:sp>
      <p:sp>
        <p:nvSpPr>
          <p:cNvPr id="5" name="Rectangle 4"/>
          <p:cNvSpPr/>
          <p:nvPr/>
        </p:nvSpPr>
        <p:spPr>
          <a:xfrm>
            <a:off x="771525" y="1276350"/>
            <a:ext cx="10648950" cy="19050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353800" y="6448425"/>
            <a:ext cx="447675" cy="2095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64748B"/>
                </a:solidFill>
                <a:latin typeface="Urbanist"/>
              </a:rPr>
              <a:t>12 / 39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1525" y="2140446"/>
            <a:ext cx="10648950" cy="335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sz="1650" b="0" i="0" u="none">
                <a:solidFill>
                  <a:srgbClr val="CBD5E1"/>
                </a:solidFill>
                <a:latin typeface="Urbanist"/>
              </a:rPr>
              <a:t>Performance on long, keyword-rich reviews: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9650" y="4952107"/>
            <a:ext cx="10220325" cy="6703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sz="1650" b="1" i="0" u="none">
                <a:solidFill>
                  <a:srgbClr val="CBD5E1"/>
                </a:solidFill>
                <a:latin typeface="Urbanist"/>
              </a:rPr>
              <a:t>Observation:</a:t>
            </a:r>
            <a:r>
              <a:rPr sz="1650" b="0" i="0" u="none">
                <a:solidFill>
                  <a:srgbClr val="CBD5E1"/>
                </a:solidFill>
                <a:latin typeface="Urbanist"/>
              </a:rPr>
              <a:t> With enough text length, simple linear correlation works incredibly well! The presence of specific words is a strong enough signal.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9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71525" y="581025"/>
            <a:ext cx="11181397" cy="571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600" b="0" i="0" u="none">
                <a:solidFill>
                  <a:srgbClr val="F8FAFC"/>
                </a:solidFill>
                <a:latin typeface="Urbanist ExtraBold"/>
              </a:rPr>
              <a:t>The Power of Simplicity</a:t>
            </a:r>
          </a:p>
        </p:txBody>
      </p:sp>
      <p:sp>
        <p:nvSpPr>
          <p:cNvPr id="3" name="Rectangle 2"/>
          <p:cNvSpPr/>
          <p:nvPr/>
        </p:nvSpPr>
        <p:spPr>
          <a:xfrm>
            <a:off x="771525" y="1276350"/>
            <a:ext cx="10648950" cy="19050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1363325" y="6448425"/>
            <a:ext cx="438150" cy="2095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64748B"/>
                </a:solidFill>
                <a:latin typeface="Urbanist"/>
              </a:rPr>
              <a:t>13 / 39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1525" y="3100387"/>
            <a:ext cx="3171825" cy="1333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0500"/>
              </a:lnSpc>
            </a:pPr>
            <a:r>
              <a:rPr sz="10500" b="0" i="0" u="none">
                <a:solidFill>
                  <a:srgbClr val="A78BFA"/>
                </a:solidFill>
                <a:latin typeface="Urbanist ExtraBold"/>
              </a:rPr>
              <a:t>0.53s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1525" y="4529137"/>
            <a:ext cx="3171825" cy="3238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100" b="0" i="0" u="none">
                <a:solidFill>
                  <a:srgbClr val="F8FAFC"/>
                </a:solidFill>
                <a:latin typeface="Urbanist"/>
              </a:rPr>
              <a:t>LR Train Time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14850" y="2791122"/>
            <a:ext cx="7250906" cy="3619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400" b="0" i="0" u="none">
                <a:solidFill>
                  <a:srgbClr val="38BDF8"/>
                </a:solidFill>
                <a:latin typeface="Urbanist ExtraBold"/>
              </a:rPr>
              <a:t>Speed vs Accuracy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14850" y="3295947"/>
            <a:ext cx="6905625" cy="6703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sz="1650" b="0" i="0" u="none">
                <a:solidFill>
                  <a:srgbClr val="CBD5E1"/>
                </a:solidFill>
                <a:latin typeface="Urbanist"/>
              </a:rPr>
              <a:t>Logistic Regression achieved </a:t>
            </a:r>
            <a:r>
              <a:rPr sz="1650" b="1" i="0" u="none">
                <a:solidFill>
                  <a:srgbClr val="CBD5E1"/>
                </a:solidFill>
                <a:latin typeface="Urbanist"/>
              </a:rPr>
              <a:t>89.35%</a:t>
            </a:r>
            <a:r>
              <a:rPr sz="1650" b="0" i="0" u="none">
                <a:solidFill>
                  <a:srgbClr val="CBD5E1"/>
                </a:solidFill>
                <a:latin typeface="Urbanist"/>
              </a:rPr>
              <a:t> accuracy on IMDB in roughly half a second of total training time.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14850" y="4156769"/>
            <a:ext cx="6905625" cy="100548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sz="1650" b="0" i="0" u="none">
                <a:solidFill>
                  <a:srgbClr val="CBD5E1"/>
                </a:solidFill>
                <a:latin typeface="Urbanist"/>
              </a:rPr>
              <a:t>This establishes a fiercely competitive baseline. Any Deep Learning model we implement next must justify its massive compute cost by significantly beating this score.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0256DE0-AEC9-2012-353E-EA03F1307F0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19"/>
          <a:stretch>
            <a:fillRect/>
          </a:stretch>
        </p:blipFill>
        <p:spPr>
          <a:xfrm rot="16200000">
            <a:off x="2667641" y="-2666359"/>
            <a:ext cx="6856718" cy="1219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993397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9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1353800" y="6448425"/>
            <a:ext cx="447675" cy="2095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64748B"/>
                </a:solidFill>
                <a:latin typeface="Urbanist"/>
              </a:rPr>
              <a:t>14 / 39</a:t>
            </a:r>
          </a:p>
        </p:txBody>
      </p:sp>
      <p:sp>
        <p:nvSpPr>
          <p:cNvPr id="3" name="Rectangle 2"/>
          <p:cNvSpPr/>
          <p:nvPr/>
        </p:nvSpPr>
        <p:spPr>
          <a:xfrm>
            <a:off x="5381625" y="2496442"/>
            <a:ext cx="1428750" cy="38100"/>
          </a:xfrm>
          <a:prstGeom prst="rect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180510" y="2820292"/>
            <a:ext cx="7830978" cy="7334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4800" b="0" i="0" u="none">
                <a:solidFill>
                  <a:srgbClr val="38BDF8"/>
                </a:solidFill>
                <a:latin typeface="Urbanist ExtraBold"/>
              </a:rPr>
              <a:t>Phase 3: Word Embeddings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43275" y="3934717"/>
            <a:ext cx="5505450" cy="4266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3359"/>
              </a:lnSpc>
            </a:pPr>
            <a:r>
              <a:rPr sz="2100" b="0" i="0" u="none">
                <a:solidFill>
                  <a:srgbClr val="94A3B8"/>
                </a:solidFill>
                <a:latin typeface="Urbanist"/>
              </a:rPr>
              <a:t>The required representation for Deep Learning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9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1525" y="2124372"/>
            <a:ext cx="3359199" cy="3704629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16474" y="2124372"/>
            <a:ext cx="3359199" cy="3704629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61424" y="2124372"/>
            <a:ext cx="3359199" cy="370462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71525" y="581025"/>
            <a:ext cx="11181397" cy="571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600" b="0" i="0" u="none">
                <a:solidFill>
                  <a:srgbClr val="F8FAFC"/>
                </a:solidFill>
                <a:latin typeface="Urbanist ExtraBold"/>
              </a:rPr>
              <a:t>The Three Embedding Strategies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1525" y="1276350"/>
            <a:ext cx="10648950" cy="19050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1353800" y="6448425"/>
            <a:ext cx="447675" cy="2095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64748B"/>
                </a:solidFill>
                <a:latin typeface="Urbanist"/>
              </a:rPr>
              <a:t>15 / 39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66800" y="2419647"/>
            <a:ext cx="2768649" cy="3810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066800" y="2991147"/>
            <a:ext cx="2907082" cy="3619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400" b="0" i="0" u="none">
                <a:solidFill>
                  <a:srgbClr val="38BDF8"/>
                </a:solidFill>
                <a:latin typeface="Urbanist ExtraBold"/>
              </a:rPr>
              <a:t>1. Random Init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6800" y="3495972"/>
            <a:ext cx="2768649" cy="20109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sz="1650" b="0" i="0" u="none">
                <a:solidFill>
                  <a:srgbClr val="CBD5E1"/>
                </a:solidFill>
                <a:latin typeface="Urbanist"/>
              </a:rPr>
              <a:t>Starting with completely random weights. The neural network must learn English grammar and sentiment entirely from scratch based only on our dataset.</a:t>
            </a:r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11749" y="2419647"/>
            <a:ext cx="2768649" cy="38100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4711749" y="2991147"/>
            <a:ext cx="2907082" cy="7239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400" b="0" i="0" u="none">
                <a:solidFill>
                  <a:srgbClr val="38BDF8"/>
                </a:solidFill>
                <a:latin typeface="Urbanist ExtraBold"/>
              </a:rPr>
              <a:t>2. GloVe (Pretrained)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11749" y="3857922"/>
            <a:ext cx="2768649" cy="16758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sz="1650" b="0" i="0" u="none">
                <a:solidFill>
                  <a:srgbClr val="CBD5E1"/>
                </a:solidFill>
                <a:latin typeface="Urbanist"/>
              </a:rPr>
              <a:t>Pretrained on 6 Billion web tokens. Provides excellent general English semantics instantly, projecting words into a known 300D spatial relation.</a:t>
            </a:r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356699" y="2419647"/>
            <a:ext cx="2768649" cy="38100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8356699" y="2991147"/>
            <a:ext cx="2907082" cy="7239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400" b="0" i="0" u="none">
                <a:solidFill>
                  <a:srgbClr val="38BDF8"/>
                </a:solidFill>
                <a:latin typeface="Urbanist ExtraBold"/>
              </a:rPr>
              <a:t>3. Custom Word2Vec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56699" y="3857922"/>
            <a:ext cx="2768649" cy="134064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sz="1650" b="0" i="0" u="none">
                <a:solidFill>
                  <a:srgbClr val="CBD5E1"/>
                </a:solidFill>
                <a:latin typeface="Urbanist"/>
              </a:rPr>
              <a:t>Trained exclusively on our specific movie review corpus to capture domain-specific terminology and context.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9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71525" y="581025"/>
            <a:ext cx="11181397" cy="571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600" b="0" i="0" u="none">
                <a:solidFill>
                  <a:srgbClr val="F8FAFC"/>
                </a:solidFill>
                <a:latin typeface="Urbanist ExtraBold"/>
              </a:rPr>
              <a:t>Custom Word2Vec Parameters</a:t>
            </a:r>
          </a:p>
        </p:txBody>
      </p:sp>
      <p:sp>
        <p:nvSpPr>
          <p:cNvPr id="3" name="Rectangle 2"/>
          <p:cNvSpPr/>
          <p:nvPr/>
        </p:nvSpPr>
        <p:spPr>
          <a:xfrm>
            <a:off x="771525" y="1276350"/>
            <a:ext cx="10648950" cy="19050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1353800" y="6448425"/>
            <a:ext cx="447675" cy="2095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64748B"/>
                </a:solidFill>
                <a:latin typeface="Urbanist"/>
              </a:rPr>
              <a:t>16 / 39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48267569"/>
              </p:ext>
            </p:extLst>
          </p:nvPr>
        </p:nvGraphicFramePr>
        <p:xfrm>
          <a:off x="771525" y="2147143"/>
          <a:ext cx="10648949" cy="365893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532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6443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37919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731787">
                <a:tc>
                  <a:txBody>
                    <a:bodyPr/>
                    <a:lstStyle/>
                    <a:p>
                      <a:pPr algn="l"/>
                      <a:r>
                        <a:rPr sz="1800" b="0" i="0" u="none">
                          <a:solidFill>
                            <a:srgbClr val="38BDF8"/>
                          </a:solidFill>
                          <a:latin typeface="Urbanist ExtraBold"/>
                        </a:rPr>
                        <a:t>Parameter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 i="0" u="none">
                          <a:solidFill>
                            <a:srgbClr val="38BDF8"/>
                          </a:solidFill>
                          <a:latin typeface="Urbanist ExtraBold"/>
                        </a:rPr>
                        <a:t>Value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 i="0" u="none">
                          <a:solidFill>
                            <a:srgbClr val="38BDF8"/>
                          </a:solidFill>
                          <a:latin typeface="Urbanist ExtraBold"/>
                        </a:rPr>
                        <a:t>Reasoning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31787">
                <a:tc>
                  <a:txBody>
                    <a:bodyPr/>
                    <a:lstStyle/>
                    <a:p>
                      <a:pPr algn="l"/>
                      <a:r>
                        <a:rPr lang="en-US" sz="1650" b="0" i="0" u="none" dirty="0">
                          <a:solidFill>
                            <a:srgbClr val="CBD5E1"/>
                          </a:solidFill>
                          <a:latin typeface="Urbanist"/>
                        </a:rPr>
                        <a:t>VECTOR_SIZE</a:t>
                      </a:r>
                      <a:endParaRPr sz="1650" b="0" i="0" u="none" dirty="0">
                        <a:solidFill>
                          <a:srgbClr val="CBD5E1"/>
                        </a:solidFill>
                        <a:latin typeface="Urbanist"/>
                      </a:endParaRP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50" b="0" i="0" u="none">
                          <a:solidFill>
                            <a:srgbClr val="CBD5E1"/>
                          </a:solidFill>
                          <a:latin typeface="Urbanist"/>
                        </a:rPr>
                        <a:t>512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50" b="0" i="0" u="none">
                          <a:solidFill>
                            <a:srgbClr val="CBD5E1"/>
                          </a:solidFill>
                          <a:latin typeface="Urbanist"/>
                        </a:rPr>
                        <a:t>High dimensionality captures complex nuances and relationships.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31787">
                <a:tc>
                  <a:txBody>
                    <a:bodyPr/>
                    <a:lstStyle/>
                    <a:p>
                      <a:pPr algn="l"/>
                      <a:r>
                        <a:rPr sz="1650" b="0" i="0" u="none">
                          <a:solidFill>
                            <a:srgbClr val="CBD5E1"/>
                          </a:solidFill>
                          <a:latin typeface="Urbanist"/>
                        </a:rPr>
                        <a:t>WINDOW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50" b="0" i="0" u="none">
                          <a:solidFill>
                            <a:srgbClr val="CBD5E1"/>
                          </a:solidFill>
                          <a:latin typeface="Urbanist"/>
                        </a:rPr>
                        <a:t>5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50" b="0" i="0" u="none">
                          <a:solidFill>
                            <a:srgbClr val="CBD5E1"/>
                          </a:solidFill>
                          <a:latin typeface="Urbanist"/>
                        </a:rPr>
                        <a:t>Context scope: looks 5 words forward and backward.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31787">
                <a:tc>
                  <a:txBody>
                    <a:bodyPr/>
                    <a:lstStyle/>
                    <a:p>
                      <a:pPr algn="l"/>
                      <a:r>
                        <a:rPr sz="1650" b="0" i="0" u="none">
                          <a:solidFill>
                            <a:srgbClr val="CBD5E1"/>
                          </a:solidFill>
                          <a:latin typeface="Urbanist"/>
                        </a:rPr>
                        <a:t>SG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50" b="0" i="0" u="none">
                          <a:solidFill>
                            <a:srgbClr val="CBD5E1"/>
                          </a:solidFill>
                          <a:latin typeface="Urbanist"/>
                        </a:rPr>
                        <a:t>1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50" b="0" i="0" u="none">
                          <a:solidFill>
                            <a:srgbClr val="CBD5E1"/>
                          </a:solidFill>
                          <a:latin typeface="Urbanist"/>
                        </a:rPr>
                        <a:t>Utilizes Skip-Gram architecture rather than CBOW.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31791">
                <a:tc>
                  <a:txBody>
                    <a:bodyPr/>
                    <a:lstStyle/>
                    <a:p>
                      <a:pPr algn="l"/>
                      <a:r>
                        <a:rPr sz="1650" b="0" i="0" u="none">
                          <a:solidFill>
                            <a:srgbClr val="CBD5E1"/>
                          </a:solidFill>
                          <a:latin typeface="Urbanist"/>
                        </a:rPr>
                        <a:t>EPOCHS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50" b="0" i="0" u="none">
                          <a:solidFill>
                            <a:srgbClr val="CBD5E1"/>
                          </a:solidFill>
                          <a:latin typeface="Urbanist"/>
                        </a:rPr>
                        <a:t>7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50" b="0" i="0" u="none" dirty="0">
                          <a:solidFill>
                            <a:srgbClr val="CBD5E1"/>
                          </a:solidFill>
                          <a:latin typeface="Urbanist"/>
                        </a:rPr>
                        <a:t>Ensured deep convergence over our specific corpus.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771525" y="2889051"/>
            <a:ext cx="2105322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2876847" y="2889051"/>
            <a:ext cx="1164431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4041278" y="2889051"/>
            <a:ext cx="7379196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771525" y="3614737"/>
            <a:ext cx="2105322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2876847" y="3614737"/>
            <a:ext cx="1164431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041278" y="3614737"/>
            <a:ext cx="7379196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771525" y="4340423"/>
            <a:ext cx="2105322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2876847" y="4340423"/>
            <a:ext cx="1164431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4041278" y="4340423"/>
            <a:ext cx="7379196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771525" y="5066109"/>
            <a:ext cx="2105322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2876847" y="5066109"/>
            <a:ext cx="1164431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4041278" y="5066109"/>
            <a:ext cx="7379196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771525" y="5791795"/>
            <a:ext cx="2105322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2876847" y="5791795"/>
            <a:ext cx="1164431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4041278" y="5791795"/>
            <a:ext cx="7379196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4419" y="3112888"/>
            <a:ext cx="1409997" cy="304800"/>
          </a:xfrm>
          <a:prstGeom prst="rect">
            <a:avLst/>
          </a:prstGeom>
        </p:spPr>
      </p:pic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4670" y="3829049"/>
            <a:ext cx="838348" cy="304800"/>
          </a:xfrm>
          <a:prstGeom prst="rect">
            <a:avLst/>
          </a:prstGeom>
        </p:spPr>
      </p:pic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4670" y="4571268"/>
            <a:ext cx="381148" cy="304800"/>
          </a:xfrm>
          <a:prstGeom prst="rect">
            <a:avLst/>
          </a:prstGeom>
        </p:spPr>
      </p:pic>
      <p:pic>
        <p:nvPicPr>
          <p:cNvPr id="24" name="Picture 23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4670" y="5289946"/>
            <a:ext cx="838348" cy="3048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9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81750" y="1785342"/>
            <a:ext cx="5038725" cy="428625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71525" y="581025"/>
            <a:ext cx="11181397" cy="571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600" b="0" i="0" u="none">
                <a:solidFill>
                  <a:srgbClr val="F8FAFC"/>
                </a:solidFill>
                <a:latin typeface="Urbanist ExtraBold"/>
              </a:rPr>
              <a:t>Handling Out of Vocabulary (OOV)</a:t>
            </a:r>
          </a:p>
        </p:txBody>
      </p:sp>
      <p:sp>
        <p:nvSpPr>
          <p:cNvPr id="4" name="Rectangle 3"/>
          <p:cNvSpPr/>
          <p:nvPr/>
        </p:nvSpPr>
        <p:spPr>
          <a:xfrm>
            <a:off x="771525" y="1276350"/>
            <a:ext cx="10648950" cy="19050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353800" y="6448425"/>
            <a:ext cx="447675" cy="2095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64748B"/>
                </a:solidFill>
                <a:latin typeface="Urbanist"/>
              </a:rPr>
              <a:t>17 / 39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1525" y="1785342"/>
            <a:ext cx="5290661" cy="3619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400" b="0" i="0" u="none">
                <a:solidFill>
                  <a:srgbClr val="38BDF8"/>
                </a:solidFill>
                <a:latin typeface="Urbanist ExtraBold"/>
              </a:rPr>
              <a:t>Min_Count &amp; UNK Tokens</a:t>
            </a: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72275" y="2175867"/>
            <a:ext cx="4257675" cy="35052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152525" y="3259633"/>
            <a:ext cx="4657725" cy="73134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sz="1800" b="0" i="0" u="none" dirty="0">
                <a:solidFill>
                  <a:srgbClr val="CBD5E1"/>
                </a:solidFill>
                <a:latin typeface="Urbanist"/>
              </a:rPr>
              <a:t>Words appearing 1 or 2 times are discarded to remove typos and extreme outliers.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52525" y="4229100"/>
            <a:ext cx="4657725" cy="73134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sz="1800" b="0" i="0" u="none" dirty="0">
                <a:solidFill>
                  <a:srgbClr val="CBD5E1"/>
                </a:solidFill>
                <a:latin typeface="Urbanist"/>
              </a:rPr>
              <a:t>During testing, any unseen word is mapped to index 1: 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52525" y="5198566"/>
            <a:ext cx="4657725" cy="73134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sz="1800" b="1" i="0" u="none">
                <a:solidFill>
                  <a:srgbClr val="CBD5E1"/>
                </a:solidFill>
                <a:latin typeface="Urbanist"/>
              </a:rPr>
              <a:t>Benefit:</a:t>
            </a:r>
            <a:r>
              <a:rPr sz="1800" b="0" i="0" u="none">
                <a:solidFill>
                  <a:srgbClr val="CBD5E1"/>
                </a:solidFill>
                <a:latin typeface="Urbanist"/>
              </a:rPr>
              <a:t> Drastically reduces noise and prevents overfitting on rare test words.</a:t>
            </a:r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1525" y="2309217"/>
            <a:ext cx="114300" cy="247650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61884" y="2309217"/>
            <a:ext cx="4533127" cy="670470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1525" y="3278683"/>
            <a:ext cx="114300" cy="247650"/>
          </a:xfrm>
          <a:prstGeom prst="rect">
            <a:avLst/>
          </a:prstGeom>
        </p:spPr>
      </p:pic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1525" y="4248150"/>
            <a:ext cx="114300" cy="247650"/>
          </a:xfrm>
          <a:prstGeom prst="rect">
            <a:avLst/>
          </a:prstGeom>
        </p:spPr>
      </p:pic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1525" y="5217616"/>
            <a:ext cx="114300" cy="24765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9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1363325" y="6448425"/>
            <a:ext cx="438150" cy="2095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64748B"/>
                </a:solidFill>
                <a:latin typeface="Urbanist"/>
              </a:rPr>
              <a:t>18 / 39</a:t>
            </a:r>
          </a:p>
        </p:txBody>
      </p:sp>
      <p:sp>
        <p:nvSpPr>
          <p:cNvPr id="3" name="Rectangle 2"/>
          <p:cNvSpPr/>
          <p:nvPr/>
        </p:nvSpPr>
        <p:spPr>
          <a:xfrm>
            <a:off x="5381625" y="2496442"/>
            <a:ext cx="1428750" cy="38100"/>
          </a:xfrm>
          <a:prstGeom prst="rect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695575" y="2820292"/>
            <a:ext cx="6800850" cy="7334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4800" b="0" i="0" u="none">
                <a:solidFill>
                  <a:srgbClr val="38BDF8"/>
                </a:solidFill>
                <a:latin typeface="Urbanist ExtraBold"/>
              </a:rPr>
              <a:t>Phase 4: Deep Learning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448050" y="3934717"/>
            <a:ext cx="5295900" cy="4266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3359"/>
              </a:lnSpc>
            </a:pPr>
            <a:r>
              <a:rPr sz="2100" b="0" i="0" u="none">
                <a:solidFill>
                  <a:srgbClr val="94A3B8"/>
                </a:solidFill>
                <a:latin typeface="Urbanist"/>
              </a:rPr>
              <a:t>Convolutional and Recurrent Neural Networks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9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71525" y="581025"/>
            <a:ext cx="11181397" cy="571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600" b="0" i="0" u="none">
                <a:solidFill>
                  <a:srgbClr val="F8FAFC"/>
                </a:solidFill>
                <a:latin typeface="Urbanist ExtraBold"/>
              </a:rPr>
              <a:t>Deep Learning Hyperparameters</a:t>
            </a:r>
          </a:p>
        </p:txBody>
      </p:sp>
      <p:sp>
        <p:nvSpPr>
          <p:cNvPr id="3" name="Rectangle 2"/>
          <p:cNvSpPr/>
          <p:nvPr/>
        </p:nvSpPr>
        <p:spPr>
          <a:xfrm>
            <a:off x="771525" y="1276350"/>
            <a:ext cx="10648950" cy="19050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1363325" y="6448425"/>
            <a:ext cx="438150" cy="2095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64748B"/>
                </a:solidFill>
                <a:latin typeface="Urbanist"/>
              </a:rPr>
              <a:t>19 / 39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71525" y="2509986"/>
          <a:ext cx="10648948" cy="293325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3481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4523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16890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733313">
                <a:tc>
                  <a:txBody>
                    <a:bodyPr/>
                    <a:lstStyle/>
                    <a:p>
                      <a:pPr algn="l"/>
                      <a:r>
                        <a:rPr sz="1800" b="0" i="0" u="none">
                          <a:solidFill>
                            <a:srgbClr val="38BDF8"/>
                          </a:solidFill>
                          <a:latin typeface="Urbanist ExtraBold"/>
                        </a:rPr>
                        <a:t>Parameter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 i="0" u="none">
                          <a:solidFill>
                            <a:srgbClr val="38BDF8"/>
                          </a:solidFill>
                          <a:latin typeface="Urbanist ExtraBold"/>
                        </a:rPr>
                        <a:t>Value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 i="0" u="none">
                          <a:solidFill>
                            <a:srgbClr val="38BDF8"/>
                          </a:solidFill>
                          <a:latin typeface="Urbanist ExtraBold"/>
                        </a:rPr>
                        <a:t>Reasoning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33313">
                <a:tc>
                  <a:txBody>
                    <a:bodyPr/>
                    <a:lstStyle/>
                    <a:p>
                      <a:pPr algn="l"/>
                      <a:r>
                        <a:rPr sz="1650" b="0" i="0" u="none">
                          <a:solidFill>
                            <a:srgbClr val="CBD5E1"/>
                          </a:solidFill>
                          <a:latin typeface="Urbanist"/>
                        </a:rPr>
                        <a:t>BATCH_SIZE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50" b="0" i="0" u="none">
                          <a:solidFill>
                            <a:srgbClr val="CBD5E1"/>
                          </a:solidFill>
                          <a:latin typeface="Urbanist"/>
                        </a:rPr>
                        <a:t>32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50" b="0" i="0" u="none">
                          <a:solidFill>
                            <a:srgbClr val="CBD5E1"/>
                          </a:solidFill>
                          <a:latin typeface="Urbanist"/>
                        </a:rPr>
                        <a:t>Standard balance of GPU memory usage and gradient stability.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33313">
                <a:tc>
                  <a:txBody>
                    <a:bodyPr/>
                    <a:lstStyle/>
                    <a:p>
                      <a:pPr algn="l"/>
                      <a:r>
                        <a:rPr sz="1650" b="0" i="0" u="none">
                          <a:solidFill>
                            <a:srgbClr val="CBD5E1"/>
                          </a:solidFill>
                          <a:latin typeface="Urbanist"/>
                        </a:rPr>
                        <a:t>LEARNING_RATE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50" b="0" i="0" u="none">
                          <a:solidFill>
                            <a:srgbClr val="CBD5E1"/>
                          </a:solidFill>
                          <a:latin typeface="Urbanist"/>
                        </a:rPr>
                        <a:t>0.001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50" b="0" i="0" u="none">
                          <a:solidFill>
                            <a:srgbClr val="CBD5E1"/>
                          </a:solidFill>
                          <a:latin typeface="Urbanist"/>
                        </a:rPr>
                        <a:t>Default optimum for the Adam optimizer.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33314">
                <a:tc>
                  <a:txBody>
                    <a:bodyPr/>
                    <a:lstStyle/>
                    <a:p>
                      <a:pPr algn="l"/>
                      <a:r>
                        <a:rPr sz="1650" b="0" i="0" u="none">
                          <a:solidFill>
                            <a:srgbClr val="CBD5E1"/>
                          </a:solidFill>
                          <a:latin typeface="Urbanist"/>
                        </a:rPr>
                        <a:t>DROPOUT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50" b="0" i="0" u="none">
                          <a:solidFill>
                            <a:srgbClr val="CBD5E1"/>
                          </a:solidFill>
                          <a:latin typeface="Urbanist"/>
                        </a:rPr>
                        <a:t>0.5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50" b="0" i="0" u="none">
                          <a:solidFill>
                            <a:srgbClr val="CBD5E1"/>
                          </a:solidFill>
                          <a:latin typeface="Urbanist"/>
                        </a:rPr>
                        <a:t>Heavy regularization applied to combat rapid overfitting.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771525" y="3251894"/>
            <a:ext cx="2334815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3106340" y="3251894"/>
            <a:ext cx="1145232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4251573" y="3251894"/>
            <a:ext cx="7168901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771525" y="3977580"/>
            <a:ext cx="2334815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3106340" y="3977580"/>
            <a:ext cx="1145232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251573" y="3977580"/>
            <a:ext cx="7168901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771525" y="4703266"/>
            <a:ext cx="2334815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3106340" y="4703266"/>
            <a:ext cx="1145232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4251573" y="4703266"/>
            <a:ext cx="7168901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771525" y="5428952"/>
            <a:ext cx="2334815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3106340" y="5428952"/>
            <a:ext cx="1145232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4251573" y="5428952"/>
            <a:ext cx="7168901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0500" y="3475732"/>
            <a:ext cx="1295697" cy="304800"/>
          </a:xfrm>
          <a:prstGeom prst="rect">
            <a:avLst/>
          </a:prstGeom>
        </p:spPr>
      </p:pic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0500" y="4206937"/>
            <a:ext cx="1638597" cy="304800"/>
          </a:xfrm>
          <a:prstGeom prst="rect">
            <a:avLst/>
          </a:prstGeom>
        </p:spPr>
      </p:pic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0500" y="4927103"/>
            <a:ext cx="952648" cy="30480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9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81750" y="1680567"/>
            <a:ext cx="5038725" cy="428625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71525" y="581025"/>
            <a:ext cx="11181397" cy="571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600" b="0" i="0" u="none">
                <a:solidFill>
                  <a:srgbClr val="F8FAFC"/>
                </a:solidFill>
                <a:latin typeface="Urbanist ExtraBold"/>
              </a:rPr>
              <a:t>TextCNN Architecture</a:t>
            </a:r>
          </a:p>
        </p:txBody>
      </p:sp>
      <p:sp>
        <p:nvSpPr>
          <p:cNvPr id="4" name="Rectangle 3"/>
          <p:cNvSpPr/>
          <p:nvPr/>
        </p:nvSpPr>
        <p:spPr>
          <a:xfrm>
            <a:off x="771525" y="1276350"/>
            <a:ext cx="10648950" cy="19050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296650" y="6448425"/>
            <a:ext cx="504825" cy="2095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64748B"/>
                </a:solidFill>
                <a:latin typeface="Urbanist"/>
              </a:rPr>
              <a:t>20 / 39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1525" y="1680567"/>
            <a:ext cx="5290661" cy="3619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400" b="0" i="0" u="none">
                <a:solidFill>
                  <a:srgbClr val="38BDF8"/>
                </a:solidFill>
                <a:latin typeface="Urbanist ExtraBold"/>
              </a:rPr>
              <a:t>1D Convolutions over Text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1525" y="2185392"/>
            <a:ext cx="5038725" cy="6703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sz="1650" b="0" i="0" u="none">
                <a:solidFill>
                  <a:srgbClr val="CBD5E1"/>
                </a:solidFill>
                <a:latin typeface="Urbanist"/>
              </a:rPr>
              <a:t>Instead of image pixels, our CNN slides filters across word embeddings to find n-grams.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72275" y="2071092"/>
            <a:ext cx="4257675" cy="35052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152525" y="2998589"/>
            <a:ext cx="4657725" cy="73134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sz="1800" b="1" i="0" u="none" dirty="0">
                <a:solidFill>
                  <a:srgbClr val="CBD5E1"/>
                </a:solidFill>
                <a:latin typeface="Urbanist"/>
              </a:rPr>
              <a:t>Filter Sizes:</a:t>
            </a:r>
            <a:r>
              <a:rPr lang="he-IL" sz="1800" b="1" i="0" u="none" dirty="0">
                <a:solidFill>
                  <a:srgbClr val="CBD5E1"/>
                </a:solidFill>
                <a:latin typeface="Urbanist"/>
              </a:rPr>
              <a:t>                                          </a:t>
            </a:r>
            <a:r>
              <a:rPr sz="1800" b="0" i="0" u="none" dirty="0">
                <a:solidFill>
                  <a:srgbClr val="CBD5E1"/>
                </a:solidFill>
                <a:latin typeface="Urbanist"/>
              </a:rPr>
              <a:t> (Captures 3-word, 4-word, and 5-word phrases).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52525" y="3968055"/>
            <a:ext cx="4657725" cy="73134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sz="1800" b="1" i="0" u="none" dirty="0">
                <a:solidFill>
                  <a:srgbClr val="CBD5E1"/>
                </a:solidFill>
                <a:latin typeface="Urbanist"/>
              </a:rPr>
              <a:t>Features:</a:t>
            </a:r>
            <a:r>
              <a:rPr sz="1800" b="0" i="0" u="none" dirty="0">
                <a:solidFill>
                  <a:srgbClr val="CBD5E1"/>
                </a:solidFill>
                <a:latin typeface="Urbanist"/>
              </a:rPr>
              <a:t> </a:t>
            </a:r>
            <a:r>
              <a:rPr lang="he-IL" sz="1800" b="0" i="0" u="none" dirty="0">
                <a:solidFill>
                  <a:srgbClr val="CBD5E1"/>
                </a:solidFill>
                <a:latin typeface="Urbanist"/>
              </a:rPr>
              <a:t>         </a:t>
            </a:r>
            <a:r>
              <a:rPr sz="1800" b="0" i="0" u="none" dirty="0">
                <a:solidFill>
                  <a:srgbClr val="CBD5E1"/>
                </a:solidFill>
                <a:latin typeface="Urbanist"/>
              </a:rPr>
              <a:t>filters per size (300 total features extracted).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52525" y="4937521"/>
            <a:ext cx="4657725" cy="10970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sz="1800" b="1" i="0" u="none">
                <a:solidFill>
                  <a:srgbClr val="CBD5E1"/>
                </a:solidFill>
                <a:latin typeface="Urbanist"/>
              </a:rPr>
              <a:t>Pooling:</a:t>
            </a:r>
            <a:r>
              <a:rPr sz="1800" b="0" i="0" u="none">
                <a:solidFill>
                  <a:srgbClr val="CBD5E1"/>
                </a:solidFill>
                <a:latin typeface="Urbanist"/>
              </a:rPr>
              <a:t> Max-Over-Time Pooling extracts the single strongest signal from each filter across the entire sentence length.</a:t>
            </a:r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1525" y="3017639"/>
            <a:ext cx="114300" cy="247650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453619" y="3065321"/>
            <a:ext cx="1181397" cy="304800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1525" y="3987105"/>
            <a:ext cx="114300" cy="247650"/>
          </a:xfrm>
          <a:prstGeom prst="rect">
            <a:avLst/>
          </a:prstGeom>
        </p:spPr>
      </p:pic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091203" y="4028925"/>
            <a:ext cx="495448" cy="304800"/>
          </a:xfrm>
          <a:prstGeom prst="rect">
            <a:avLst/>
          </a:prstGeom>
        </p:spPr>
      </p:pic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1525" y="4956571"/>
            <a:ext cx="114300" cy="24765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9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1525" y="1680567"/>
            <a:ext cx="5038725" cy="428625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71525" y="581025"/>
            <a:ext cx="11181397" cy="571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600" b="0" i="0" u="none">
                <a:solidFill>
                  <a:srgbClr val="F8FAFC"/>
                </a:solidFill>
                <a:latin typeface="Urbanist ExtraBold"/>
              </a:rPr>
              <a:t>TextLSTM Architecture</a:t>
            </a:r>
          </a:p>
        </p:txBody>
      </p:sp>
      <p:sp>
        <p:nvSpPr>
          <p:cNvPr id="4" name="Rectangle 3"/>
          <p:cNvSpPr/>
          <p:nvPr/>
        </p:nvSpPr>
        <p:spPr>
          <a:xfrm>
            <a:off x="771525" y="1276350"/>
            <a:ext cx="10648950" cy="19050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353800" y="6448425"/>
            <a:ext cx="447675" cy="2095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64748B"/>
                </a:solidFill>
                <a:latin typeface="Urbanist"/>
              </a:rPr>
              <a:t>21 / 39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62050" y="2071092"/>
            <a:ext cx="4257675" cy="35052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381750" y="1680567"/>
            <a:ext cx="5290661" cy="3619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400" b="0" i="0" u="none">
                <a:solidFill>
                  <a:srgbClr val="38BDF8"/>
                </a:solidFill>
                <a:latin typeface="Urbanist ExtraBold"/>
              </a:rPr>
              <a:t>Sequential Memory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81750" y="2185392"/>
            <a:ext cx="5038725" cy="6703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sz="1650" b="0" i="0" u="none">
                <a:solidFill>
                  <a:srgbClr val="CBD5E1"/>
                </a:solidFill>
                <a:latin typeface="Urbanist"/>
              </a:rPr>
              <a:t>Processes text word-by-word sequentially, maintaining a "hidden state" of past context.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762750" y="2998589"/>
            <a:ext cx="4909661" cy="33804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sz="1800" b="1" i="0" u="none" dirty="0">
                <a:solidFill>
                  <a:srgbClr val="CBD5E1"/>
                </a:solidFill>
                <a:latin typeface="Urbanist"/>
              </a:rPr>
              <a:t>Hidden Dim:</a:t>
            </a:r>
            <a:r>
              <a:rPr sz="1800" b="0" i="0" u="none" dirty="0">
                <a:solidFill>
                  <a:srgbClr val="CBD5E1"/>
                </a:solidFill>
                <a:latin typeface="Urbanist"/>
              </a:rPr>
              <a:t> </a:t>
            </a:r>
            <a:r>
              <a:rPr lang="he-IL" sz="1800" b="0" i="0" u="none" dirty="0">
                <a:solidFill>
                  <a:srgbClr val="CBD5E1"/>
                </a:solidFill>
                <a:latin typeface="Urbanist"/>
              </a:rPr>
              <a:t>        </a:t>
            </a:r>
            <a:r>
              <a:rPr sz="1800" b="0" i="0" u="none" dirty="0">
                <a:solidFill>
                  <a:srgbClr val="CBD5E1"/>
                </a:solidFill>
                <a:latin typeface="Urbanist"/>
              </a:rPr>
              <a:t>(The size of the memory vector).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762750" y="3968055"/>
            <a:ext cx="4657725" cy="33804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sz="1800" b="1" i="0" u="none" dirty="0">
                <a:solidFill>
                  <a:srgbClr val="CBD5E1"/>
                </a:solidFill>
                <a:latin typeface="Urbanist"/>
              </a:rPr>
              <a:t>Depth:</a:t>
            </a:r>
            <a:r>
              <a:rPr lang="he-IL" sz="1800" b="1" i="0" u="none" dirty="0">
                <a:solidFill>
                  <a:srgbClr val="CBD5E1"/>
                </a:solidFill>
                <a:latin typeface="Urbanist"/>
              </a:rPr>
              <a:t>      </a:t>
            </a:r>
            <a:r>
              <a:rPr sz="1800" b="0" i="0" u="none" dirty="0">
                <a:solidFill>
                  <a:srgbClr val="CBD5E1"/>
                </a:solidFill>
                <a:latin typeface="Urbanist"/>
              </a:rPr>
              <a:t> stacked layers for deeper abstraction.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762750" y="4937521"/>
            <a:ext cx="4657725" cy="108363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sz="1800" b="1" i="0" u="none" dirty="0">
                <a:solidFill>
                  <a:srgbClr val="CBD5E1"/>
                </a:solidFill>
                <a:latin typeface="Urbanist"/>
              </a:rPr>
              <a:t>Bidirectional:</a:t>
            </a:r>
            <a:r>
              <a:rPr sz="1800" b="0" i="0" u="none" dirty="0">
                <a:solidFill>
                  <a:srgbClr val="CBD5E1"/>
                </a:solidFill>
                <a:latin typeface="Urbanist"/>
              </a:rPr>
              <a:t> </a:t>
            </a:r>
            <a:r>
              <a:rPr lang="he-IL" sz="1800" b="0" i="0" u="none" dirty="0">
                <a:solidFill>
                  <a:srgbClr val="CBD5E1"/>
                </a:solidFill>
                <a:latin typeface="Urbanist"/>
              </a:rPr>
              <a:t>          </a:t>
            </a:r>
            <a:r>
              <a:rPr sz="1800" b="0" i="0" u="none" dirty="0">
                <a:solidFill>
                  <a:srgbClr val="CBD5E1"/>
                </a:solidFill>
                <a:latin typeface="Urbanist"/>
              </a:rPr>
              <a:t>Reads left-to-right AND right-to-left, concatenating results (512 total output dim).</a:t>
            </a:r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81750" y="3017639"/>
            <a:ext cx="114300" cy="247650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91401" y="3031830"/>
            <a:ext cx="495448" cy="304800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81750" y="3987105"/>
            <a:ext cx="114300" cy="247650"/>
          </a:xfrm>
          <a:prstGeom prst="rect">
            <a:avLst/>
          </a:prstGeom>
        </p:spPr>
      </p:pic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71128" y="4001296"/>
            <a:ext cx="266848" cy="304800"/>
          </a:xfrm>
          <a:prstGeom prst="rect">
            <a:avLst/>
          </a:prstGeom>
        </p:spPr>
      </p:pic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81750" y="4956571"/>
            <a:ext cx="114300" cy="247650"/>
          </a:xfrm>
          <a:prstGeom prst="rect">
            <a:avLst/>
          </a:prstGeom>
        </p:spPr>
      </p:pic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73820" y="4972990"/>
            <a:ext cx="609748" cy="30480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9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1525" y="2328267"/>
            <a:ext cx="5038725" cy="329684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81750" y="2328267"/>
            <a:ext cx="5038725" cy="32968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71525" y="581025"/>
            <a:ext cx="11181397" cy="571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600" b="0" i="0" u="none">
                <a:solidFill>
                  <a:srgbClr val="F8FAFC"/>
                </a:solidFill>
                <a:latin typeface="Urbanist ExtraBold"/>
              </a:rPr>
              <a:t>The Freezing Dilemma</a:t>
            </a:r>
          </a:p>
        </p:txBody>
      </p:sp>
      <p:sp>
        <p:nvSpPr>
          <p:cNvPr id="5" name="Rectangle 4"/>
          <p:cNvSpPr/>
          <p:nvPr/>
        </p:nvSpPr>
        <p:spPr>
          <a:xfrm>
            <a:off x="771525" y="1276350"/>
            <a:ext cx="10648950" cy="19050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306175" y="6448425"/>
            <a:ext cx="495300" cy="2095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64748B"/>
                </a:solidFill>
                <a:latin typeface="Urbanist"/>
              </a:rPr>
              <a:t>22 / 39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6800" y="2623542"/>
            <a:ext cx="4670583" cy="3619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400" b="0" i="0" u="none">
                <a:solidFill>
                  <a:srgbClr val="38BDF8"/>
                </a:solidFill>
                <a:latin typeface="Urbanist ExtraBold"/>
              </a:rPr>
              <a:t>Freeze = True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6800" y="3128367"/>
            <a:ext cx="4448175" cy="100548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sz="1650" b="0" i="0" u="none">
                <a:solidFill>
                  <a:srgbClr val="CBD5E1"/>
                </a:solidFill>
                <a:latin typeface="Urbanist"/>
              </a:rPr>
              <a:t>Embedding layer weights are locked. The network must learn to classify using the </a:t>
            </a:r>
            <a:r>
              <a:rPr sz="1650" b="0" i="1" u="none">
                <a:solidFill>
                  <a:srgbClr val="CBD5E1"/>
                </a:solidFill>
                <a:latin typeface="Urbanist"/>
              </a:rPr>
              <a:t>existing</a:t>
            </a:r>
            <a:r>
              <a:rPr sz="1650" b="0" i="0" u="none">
                <a:solidFill>
                  <a:srgbClr val="CBD5E1"/>
                </a:solidFill>
                <a:latin typeface="Urbanist"/>
              </a:rPr>
              <a:t> spatial relationships of GloVe or Word2Vec.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6800" y="4324350"/>
            <a:ext cx="4448175" cy="100548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sz="1650" b="1" i="0" u="none">
                <a:solidFill>
                  <a:srgbClr val="CBD5E1"/>
                </a:solidFill>
                <a:latin typeface="Urbanist"/>
              </a:rPr>
              <a:t>Pros:</a:t>
            </a:r>
            <a:r>
              <a:rPr sz="1650" b="0" i="0" u="none">
                <a:solidFill>
                  <a:srgbClr val="CBD5E1"/>
                </a:solidFill>
                <a:latin typeface="Urbanist"/>
              </a:rPr>
              <a:t> Faster training, heavily resists overfitting.</a:t>
            </a:r>
            <a:r>
              <a:t>
</a:t>
            </a:r>
            <a:r>
              <a:rPr sz="1650" b="1" i="0" u="none">
                <a:solidFill>
                  <a:srgbClr val="CBD5E1"/>
                </a:solidFill>
                <a:latin typeface="Urbanist"/>
              </a:rPr>
              <a:t>Cons:</a:t>
            </a:r>
            <a:r>
              <a:rPr sz="1650" b="0" i="0" u="none">
                <a:solidFill>
                  <a:srgbClr val="CBD5E1"/>
                </a:solidFill>
                <a:latin typeface="Urbanist"/>
              </a:rPr>
              <a:t> Cannot adapt general word meanings to the specific dataset.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77025" y="2623542"/>
            <a:ext cx="4670583" cy="3619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400" b="0" i="0" u="none">
                <a:solidFill>
                  <a:srgbClr val="EF4444"/>
                </a:solidFill>
                <a:latin typeface="Urbanist ExtraBold"/>
              </a:rPr>
              <a:t>Freeze = False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77025" y="3128367"/>
            <a:ext cx="4448175" cy="100548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sz="1650" b="0" i="0" u="none">
                <a:solidFill>
                  <a:srgbClr val="CBD5E1"/>
                </a:solidFill>
                <a:latin typeface="Urbanist"/>
              </a:rPr>
              <a:t>Gradients propagate all the way back to the embeddings, shifting the word vectors around during training (Fine-tuning).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77025" y="4324350"/>
            <a:ext cx="4448175" cy="100548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sz="1650" b="1" i="0" u="none">
                <a:solidFill>
                  <a:srgbClr val="CBD5E1"/>
                </a:solidFill>
                <a:latin typeface="Urbanist"/>
              </a:rPr>
              <a:t>Pros:</a:t>
            </a:r>
            <a:r>
              <a:rPr sz="1650" b="0" i="0" u="none">
                <a:solidFill>
                  <a:srgbClr val="CBD5E1"/>
                </a:solidFill>
                <a:latin typeface="Urbanist"/>
              </a:rPr>
              <a:t> Highly tailored representations.</a:t>
            </a:r>
            <a:r>
              <a:t>
</a:t>
            </a:r>
            <a:r>
              <a:rPr sz="1650" b="1" i="0" u="none">
                <a:solidFill>
                  <a:srgbClr val="CBD5E1"/>
                </a:solidFill>
                <a:latin typeface="Urbanist"/>
              </a:rPr>
              <a:t>Cons:</a:t>
            </a:r>
            <a:r>
              <a:rPr sz="1650" b="0" i="0" u="none">
                <a:solidFill>
                  <a:srgbClr val="CBD5E1"/>
                </a:solidFill>
                <a:latin typeface="Urbanist"/>
              </a:rPr>
              <a:t> Easy to destroy pretrained knowledge and massively overfit.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9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1525" y="3105298"/>
            <a:ext cx="1238250" cy="2424707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22625" y="3105298"/>
            <a:ext cx="1743075" cy="2424707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78550" y="3105298"/>
            <a:ext cx="1495425" cy="2424707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086826" y="3105298"/>
            <a:ext cx="1333500" cy="2424707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71525" y="581025"/>
            <a:ext cx="11181397" cy="571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600" b="0" i="0" u="none">
                <a:solidFill>
                  <a:srgbClr val="F8FAFC"/>
                </a:solidFill>
                <a:latin typeface="Urbanist ExtraBold"/>
              </a:rPr>
              <a:t>24 Combinations Tested</a:t>
            </a:r>
          </a:p>
        </p:txBody>
      </p:sp>
      <p:sp>
        <p:nvSpPr>
          <p:cNvPr id="7" name="Rectangle 6"/>
          <p:cNvSpPr/>
          <p:nvPr/>
        </p:nvSpPr>
        <p:spPr>
          <a:xfrm>
            <a:off x="771525" y="1276350"/>
            <a:ext cx="10648950" cy="19050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1315700" y="6448425"/>
            <a:ext cx="485775" cy="2095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64748B"/>
                </a:solidFill>
                <a:latin typeface="Urbanist"/>
              </a:rPr>
              <a:t>23 / 39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1525" y="2423368"/>
            <a:ext cx="10648950" cy="3961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3120"/>
              </a:lnSpc>
            </a:pPr>
            <a:r>
              <a:rPr sz="1950" b="0" i="0" u="none">
                <a:solidFill>
                  <a:srgbClr val="CBD5E1"/>
                </a:solidFill>
                <a:latin typeface="Urbanist"/>
              </a:rPr>
              <a:t>We automated a pipeline to test all possible architecture variations: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23962" y="3400573"/>
            <a:ext cx="350043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4500" b="0" i="0" u="none">
                <a:solidFill>
                  <a:srgbClr val="38BDF8"/>
                </a:solidFill>
                <a:latin typeface="Urbanist ExtraBold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66800" y="4229248"/>
            <a:ext cx="647700" cy="100548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640"/>
              </a:lnSpc>
            </a:pPr>
            <a:r>
              <a:rPr sz="1650" b="0" i="0" u="none">
                <a:solidFill>
                  <a:srgbClr val="CBD5E1"/>
                </a:solidFill>
                <a:latin typeface="Urbanist"/>
              </a:rPr>
              <a:t>Models</a:t>
            </a:r>
            <a:r>
              <a:t>
</a:t>
            </a:r>
            <a:r>
              <a:rPr sz="1650" b="0" i="0" u="none">
                <a:solidFill>
                  <a:srgbClr val="CBD5E1"/>
                </a:solidFill>
                <a:latin typeface="Urbanist"/>
              </a:rPr>
              <a:t> (CNN, LSTM)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39913" y="3955702"/>
            <a:ext cx="370046" cy="5810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750" b="0" i="0" u="none">
                <a:solidFill>
                  <a:srgbClr val="64748B"/>
                </a:solidFill>
                <a:latin typeface="Urbanist ExtraBold"/>
              </a:rPr>
              <a:t>X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46525" y="3400573"/>
            <a:ext cx="310038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4500" b="0" i="0" u="none">
                <a:solidFill>
                  <a:srgbClr val="38BDF8"/>
                </a:solidFill>
                <a:latin typeface="Urbanist ExtraBold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917900" y="4229248"/>
            <a:ext cx="1152525" cy="100548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640"/>
              </a:lnSpc>
            </a:pPr>
            <a:r>
              <a:rPr sz="1650" b="0" i="0" u="none">
                <a:solidFill>
                  <a:srgbClr val="CBD5E1"/>
                </a:solidFill>
                <a:latin typeface="Urbanist"/>
              </a:rPr>
              <a:t>Embeddings</a:t>
            </a:r>
            <a:r>
              <a:t>
</a:t>
            </a:r>
            <a:r>
              <a:rPr sz="1650" b="0" i="0" u="none">
                <a:solidFill>
                  <a:srgbClr val="CBD5E1"/>
                </a:solidFill>
                <a:latin typeface="Urbanist"/>
              </a:rPr>
              <a:t> (Rand, GloVe, W2V)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95838" y="3955702"/>
            <a:ext cx="370046" cy="5810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750" b="0" i="0" u="none">
                <a:solidFill>
                  <a:srgbClr val="64748B"/>
                </a:solidFill>
                <a:latin typeface="Urbanist ExtraBold"/>
              </a:rPr>
              <a:t>X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559575" y="3400573"/>
            <a:ext cx="350043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4500" b="0" i="0" u="none">
                <a:solidFill>
                  <a:srgbClr val="38BDF8"/>
                </a:solidFill>
                <a:latin typeface="Urbanist ExtraBold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273825" y="4229248"/>
            <a:ext cx="904875" cy="100548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640"/>
              </a:lnSpc>
            </a:pPr>
            <a:r>
              <a:rPr sz="1650" b="0" i="0" u="none">
                <a:solidFill>
                  <a:srgbClr val="CBD5E1"/>
                </a:solidFill>
                <a:latin typeface="Urbanist"/>
              </a:rPr>
              <a:t>States</a:t>
            </a:r>
            <a:r>
              <a:t>
</a:t>
            </a:r>
            <a:r>
              <a:rPr sz="1650" b="0" i="0" u="none">
                <a:solidFill>
                  <a:srgbClr val="CBD5E1"/>
                </a:solidFill>
                <a:latin typeface="Urbanist"/>
              </a:rPr>
              <a:t> (Frozen, Unfrozen)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2214" y="3955702"/>
            <a:ext cx="290036" cy="5810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750" b="0" i="0" u="none">
                <a:solidFill>
                  <a:srgbClr val="64748B"/>
                </a:solidFill>
                <a:latin typeface="Urbanist ExtraBold"/>
              </a:rPr>
              <a:t>=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486875" y="3400573"/>
            <a:ext cx="751395" cy="69249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he-IL" sz="4500" dirty="0">
                <a:solidFill>
                  <a:srgbClr val="FFFFFF"/>
                </a:solidFill>
                <a:latin typeface="Urbanist ExtraBold"/>
              </a:rPr>
              <a:t>12</a:t>
            </a:r>
            <a:endParaRPr sz="4500" b="0" i="0" u="none" dirty="0">
              <a:solidFill>
                <a:srgbClr val="FFFFFF"/>
              </a:solidFill>
              <a:latin typeface="Urbanist ExtraBold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10382101" y="4229248"/>
            <a:ext cx="742950" cy="100548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640"/>
              </a:lnSpc>
            </a:pPr>
            <a:r>
              <a:rPr sz="1650" b="0" i="0" u="none" dirty="0">
                <a:solidFill>
                  <a:srgbClr val="CBD5E1"/>
                </a:solidFill>
                <a:latin typeface="Urbanist"/>
              </a:rPr>
              <a:t>Runs per Dataset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DFD801A-804C-F2BD-F16D-D13FA3446BD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19"/>
          <a:stretch>
            <a:fillRect/>
          </a:stretch>
        </p:blipFill>
        <p:spPr>
          <a:xfrm rot="16200000">
            <a:off x="2667641" y="-2666359"/>
            <a:ext cx="6856718" cy="1219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768401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D97545D-3F97-AAB8-5732-89F90EC37B7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9"/>
          <a:stretch>
            <a:fillRect/>
          </a:stretch>
        </p:blipFill>
        <p:spPr>
          <a:xfrm rot="16200000">
            <a:off x="2667641" y="-2666359"/>
            <a:ext cx="6856718" cy="1219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007132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9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1525" y="1676400"/>
            <a:ext cx="10648950" cy="4600575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71525" y="581025"/>
            <a:ext cx="11181397" cy="571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600" b="0" i="0" u="none">
                <a:solidFill>
                  <a:srgbClr val="F8FAFC"/>
                </a:solidFill>
                <a:latin typeface="Urbanist ExtraBold"/>
              </a:rPr>
              <a:t>Rotten Tomatoes: DL Overview</a:t>
            </a:r>
          </a:p>
        </p:txBody>
      </p:sp>
      <p:sp>
        <p:nvSpPr>
          <p:cNvPr id="4" name="Rectangle 3"/>
          <p:cNvSpPr/>
          <p:nvPr/>
        </p:nvSpPr>
        <p:spPr>
          <a:xfrm>
            <a:off x="771525" y="1276350"/>
            <a:ext cx="10648950" cy="19050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315700" y="6448425"/>
            <a:ext cx="485775" cy="2095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64748B"/>
                </a:solidFill>
                <a:latin typeface="Urbanist"/>
              </a:rPr>
              <a:t>24 / 39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1525" y="3118544"/>
            <a:ext cx="10648950" cy="335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sz="1650" b="0" i="0" u="none">
                <a:solidFill>
                  <a:srgbClr val="CBD5E1"/>
                </a:solidFill>
                <a:latin typeface="Urbanist"/>
              </a:rPr>
              <a:t>Highest achieved Test Accuracy across all combinations: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9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71525" y="581025"/>
            <a:ext cx="11181397" cy="571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600" b="0" i="0" u="none">
                <a:solidFill>
                  <a:srgbClr val="F8FAFC"/>
                </a:solidFill>
                <a:latin typeface="Urbanist ExtraBold"/>
              </a:rPr>
              <a:t>Rotten Tomatoes: Detailed Matrix</a:t>
            </a:r>
          </a:p>
        </p:txBody>
      </p:sp>
      <p:sp>
        <p:nvSpPr>
          <p:cNvPr id="3" name="Rectangle 2"/>
          <p:cNvSpPr/>
          <p:nvPr/>
        </p:nvSpPr>
        <p:spPr>
          <a:xfrm>
            <a:off x="771525" y="1276350"/>
            <a:ext cx="10648950" cy="19050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1306175" y="6448425"/>
            <a:ext cx="495300" cy="2095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64748B"/>
                </a:solidFill>
                <a:latin typeface="Urbanist"/>
              </a:rPr>
              <a:t>25 / 39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71525" y="2147143"/>
          <a:ext cx="10648948" cy="365893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8968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7672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2659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5559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731787">
                <a:tc>
                  <a:txBody>
                    <a:bodyPr/>
                    <a:lstStyle/>
                    <a:p>
                      <a:pPr algn="l"/>
                      <a:r>
                        <a:rPr sz="1800" b="0" i="0" u="none">
                          <a:solidFill>
                            <a:srgbClr val="38BDF8"/>
                          </a:solidFill>
                          <a:latin typeface="Urbanist ExtraBold"/>
                        </a:rPr>
                        <a:t>Model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 i="0" u="none">
                          <a:solidFill>
                            <a:srgbClr val="38BDF8"/>
                          </a:solidFill>
                          <a:latin typeface="Urbanist ExtraBold"/>
                        </a:rPr>
                        <a:t>Embedding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 i="0" u="none">
                          <a:solidFill>
                            <a:srgbClr val="38BDF8"/>
                          </a:solidFill>
                          <a:latin typeface="Urbanist ExtraBold"/>
                        </a:rPr>
                        <a:t>Freeze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 i="0" u="none">
                          <a:solidFill>
                            <a:srgbClr val="38BDF8"/>
                          </a:solidFill>
                          <a:latin typeface="Urbanist ExtraBold"/>
                        </a:rPr>
                        <a:t>Test Accuracy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31787">
                <a:tc>
                  <a:txBody>
                    <a:bodyPr/>
                    <a:lstStyle/>
                    <a:p>
                      <a:pPr algn="l"/>
                      <a:r>
                        <a:rPr sz="1650" b="0" i="0" u="none">
                          <a:solidFill>
                            <a:srgbClr val="CBD5E1"/>
                          </a:solidFill>
                          <a:latin typeface="Urbanist"/>
                        </a:rPr>
                        <a:t>LSTM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50" b="0" i="0" u="none">
                          <a:solidFill>
                            <a:srgbClr val="CBD5E1"/>
                          </a:solidFill>
                          <a:latin typeface="Urbanist"/>
                        </a:rPr>
                        <a:t>GloVe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50" b="0" i="0" u="none">
                          <a:solidFill>
                            <a:srgbClr val="CBD5E1"/>
                          </a:solidFill>
                          <a:latin typeface="Urbanist"/>
                        </a:rPr>
                        <a:t>False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50" b="1" i="0" u="none">
                          <a:solidFill>
                            <a:srgbClr val="34D399"/>
                          </a:solidFill>
                          <a:latin typeface="Urbanist"/>
                        </a:rPr>
                        <a:t>81.33%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31787">
                <a:tc>
                  <a:txBody>
                    <a:bodyPr/>
                    <a:lstStyle/>
                    <a:p>
                      <a:pPr algn="l"/>
                      <a:r>
                        <a:rPr sz="1650" b="0" i="0" u="none">
                          <a:solidFill>
                            <a:srgbClr val="CBD5E1"/>
                          </a:solidFill>
                          <a:latin typeface="Urbanist"/>
                        </a:rPr>
                        <a:t>LSTM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50" b="0" i="0" u="none">
                          <a:solidFill>
                            <a:srgbClr val="CBD5E1"/>
                          </a:solidFill>
                          <a:latin typeface="Urbanist"/>
                        </a:rPr>
                        <a:t>Word2Vec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50" b="0" i="0" u="none">
                          <a:solidFill>
                            <a:srgbClr val="CBD5E1"/>
                          </a:solidFill>
                          <a:latin typeface="Urbanist"/>
                        </a:rPr>
                        <a:t>False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50" b="0" i="0" u="none">
                          <a:solidFill>
                            <a:srgbClr val="CBD5E1"/>
                          </a:solidFill>
                          <a:latin typeface="Urbanist"/>
                        </a:rPr>
                        <a:t>79.55%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31787">
                <a:tc>
                  <a:txBody>
                    <a:bodyPr/>
                    <a:lstStyle/>
                    <a:p>
                      <a:pPr algn="l"/>
                      <a:r>
                        <a:rPr sz="1650" b="0" i="0" u="none">
                          <a:solidFill>
                            <a:srgbClr val="CBD5E1"/>
                          </a:solidFill>
                          <a:latin typeface="Urbanist"/>
                        </a:rPr>
                        <a:t>CNN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50" b="0" i="0" u="none">
                          <a:solidFill>
                            <a:srgbClr val="CBD5E1"/>
                          </a:solidFill>
                          <a:latin typeface="Urbanist"/>
                        </a:rPr>
                        <a:t>Word2Vec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50" b="0" i="0" u="none">
                          <a:solidFill>
                            <a:srgbClr val="CBD5E1"/>
                          </a:solidFill>
                          <a:latin typeface="Urbanist"/>
                        </a:rPr>
                        <a:t>False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50" b="0" i="0" u="none">
                          <a:solidFill>
                            <a:srgbClr val="CBD5E1"/>
                          </a:solidFill>
                          <a:latin typeface="Urbanist"/>
                        </a:rPr>
                        <a:t>79.74%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31791">
                <a:tc>
                  <a:txBody>
                    <a:bodyPr/>
                    <a:lstStyle/>
                    <a:p>
                      <a:pPr algn="l"/>
                      <a:r>
                        <a:rPr sz="1650" b="0" i="0" u="none">
                          <a:solidFill>
                            <a:srgbClr val="CBD5E1"/>
                          </a:solidFill>
                          <a:latin typeface="Urbanist"/>
                        </a:rPr>
                        <a:t>CNN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50" b="0" i="0" u="none">
                          <a:solidFill>
                            <a:srgbClr val="CBD5E1"/>
                          </a:solidFill>
                          <a:latin typeface="Urbanist"/>
                        </a:rPr>
                        <a:t>Random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50" b="0" i="0" u="none">
                          <a:solidFill>
                            <a:srgbClr val="CBD5E1"/>
                          </a:solidFill>
                          <a:latin typeface="Urbanist"/>
                        </a:rPr>
                        <a:t>True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50" b="0" i="0" u="none">
                          <a:solidFill>
                            <a:srgbClr val="EF4444"/>
                          </a:solidFill>
                          <a:latin typeface="Urbanist"/>
                        </a:rPr>
                        <a:t>68.57%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771525" y="2889051"/>
            <a:ext cx="1989683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2761208" y="2889051"/>
            <a:ext cx="3076723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837932" y="2889051"/>
            <a:ext cx="2026592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7864524" y="2889051"/>
            <a:ext cx="3555950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771525" y="3614737"/>
            <a:ext cx="1989683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2761208" y="3614737"/>
            <a:ext cx="3076723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5837932" y="3614737"/>
            <a:ext cx="2026592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7864524" y="3614737"/>
            <a:ext cx="3555950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771525" y="4340423"/>
            <a:ext cx="1989683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2761208" y="4340423"/>
            <a:ext cx="3076723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5837932" y="4340423"/>
            <a:ext cx="2026592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7864524" y="4340423"/>
            <a:ext cx="3555950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771525" y="5066109"/>
            <a:ext cx="1989683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2761208" y="5066109"/>
            <a:ext cx="3076723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5837932" y="5066109"/>
            <a:ext cx="2026592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7864524" y="5066109"/>
            <a:ext cx="3555950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771525" y="5791795"/>
            <a:ext cx="1989683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2761208" y="5791795"/>
            <a:ext cx="3076723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5837932" y="5791795"/>
            <a:ext cx="2026592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7864524" y="5791795"/>
            <a:ext cx="3555950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9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1525" y="1676400"/>
            <a:ext cx="10648950" cy="4600575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71525" y="581025"/>
            <a:ext cx="11181397" cy="571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600" b="0" i="0" u="none">
                <a:solidFill>
                  <a:srgbClr val="F8FAFC"/>
                </a:solidFill>
                <a:latin typeface="Urbanist ExtraBold"/>
              </a:rPr>
              <a:t>IMDB: DL Overview</a:t>
            </a:r>
          </a:p>
        </p:txBody>
      </p:sp>
      <p:sp>
        <p:nvSpPr>
          <p:cNvPr id="4" name="Rectangle 3"/>
          <p:cNvSpPr/>
          <p:nvPr/>
        </p:nvSpPr>
        <p:spPr>
          <a:xfrm>
            <a:off x="771525" y="1276350"/>
            <a:ext cx="10648950" cy="19050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306175" y="6448425"/>
            <a:ext cx="495300" cy="2095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64748B"/>
                </a:solidFill>
                <a:latin typeface="Urbanist"/>
              </a:rPr>
              <a:t>26 / 39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1525" y="3118544"/>
            <a:ext cx="10648950" cy="335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sz="1650" b="0" i="0" u="none">
                <a:solidFill>
                  <a:srgbClr val="CBD5E1"/>
                </a:solidFill>
                <a:latin typeface="Urbanist"/>
              </a:rPr>
              <a:t>Highest achieved Test Accuracy across all combinations: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9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71525" y="581025"/>
            <a:ext cx="11181397" cy="571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600" b="0" i="0" u="none">
                <a:solidFill>
                  <a:srgbClr val="F8FAFC"/>
                </a:solidFill>
                <a:latin typeface="Urbanist ExtraBold"/>
              </a:rPr>
              <a:t>IMDB: Detailed Matrix</a:t>
            </a:r>
          </a:p>
        </p:txBody>
      </p:sp>
      <p:sp>
        <p:nvSpPr>
          <p:cNvPr id="3" name="Rectangle 2"/>
          <p:cNvSpPr/>
          <p:nvPr/>
        </p:nvSpPr>
        <p:spPr>
          <a:xfrm>
            <a:off x="771525" y="1276350"/>
            <a:ext cx="10648950" cy="19050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1306175" y="6448425"/>
            <a:ext cx="495300" cy="2095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64748B"/>
                </a:solidFill>
                <a:latin typeface="Urbanist"/>
              </a:rPr>
              <a:t>27 / 39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71525" y="2147143"/>
          <a:ext cx="10648948" cy="365893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8968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7672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2659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5559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731787">
                <a:tc>
                  <a:txBody>
                    <a:bodyPr/>
                    <a:lstStyle/>
                    <a:p>
                      <a:pPr algn="l"/>
                      <a:r>
                        <a:rPr sz="1800" b="0" i="0" u="none">
                          <a:solidFill>
                            <a:srgbClr val="38BDF8"/>
                          </a:solidFill>
                          <a:latin typeface="Urbanist ExtraBold"/>
                        </a:rPr>
                        <a:t>Model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 i="0" u="none">
                          <a:solidFill>
                            <a:srgbClr val="38BDF8"/>
                          </a:solidFill>
                          <a:latin typeface="Urbanist ExtraBold"/>
                        </a:rPr>
                        <a:t>Embedding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 i="0" u="none">
                          <a:solidFill>
                            <a:srgbClr val="38BDF8"/>
                          </a:solidFill>
                          <a:latin typeface="Urbanist ExtraBold"/>
                        </a:rPr>
                        <a:t>Freeze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 i="0" u="none">
                          <a:solidFill>
                            <a:srgbClr val="38BDF8"/>
                          </a:solidFill>
                          <a:latin typeface="Urbanist ExtraBold"/>
                        </a:rPr>
                        <a:t>Test Accuracy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31787">
                <a:tc>
                  <a:txBody>
                    <a:bodyPr/>
                    <a:lstStyle/>
                    <a:p>
                      <a:pPr algn="l"/>
                      <a:r>
                        <a:rPr sz="1650" b="0" i="0" u="none">
                          <a:solidFill>
                            <a:srgbClr val="CBD5E1"/>
                          </a:solidFill>
                          <a:latin typeface="Urbanist"/>
                        </a:rPr>
                        <a:t>CNN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50" b="0" i="0" u="none">
                          <a:solidFill>
                            <a:srgbClr val="CBD5E1"/>
                          </a:solidFill>
                          <a:latin typeface="Urbanist"/>
                        </a:rPr>
                        <a:t>Word2Vec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50" b="0" i="0" u="none">
                          <a:solidFill>
                            <a:srgbClr val="CBD5E1"/>
                          </a:solidFill>
                          <a:latin typeface="Urbanist"/>
                        </a:rPr>
                        <a:t>True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50" b="1" i="0" u="none">
                          <a:solidFill>
                            <a:srgbClr val="34D399"/>
                          </a:solidFill>
                          <a:latin typeface="Urbanist"/>
                        </a:rPr>
                        <a:t>87.68%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31787">
                <a:tc>
                  <a:txBody>
                    <a:bodyPr/>
                    <a:lstStyle/>
                    <a:p>
                      <a:pPr algn="l"/>
                      <a:r>
                        <a:rPr sz="1650" b="0" i="0" u="none">
                          <a:solidFill>
                            <a:srgbClr val="CBD5E1"/>
                          </a:solidFill>
                          <a:latin typeface="Urbanist"/>
                        </a:rPr>
                        <a:t>CNN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50" b="0" i="0" u="none">
                          <a:solidFill>
                            <a:srgbClr val="CBD5E1"/>
                          </a:solidFill>
                          <a:latin typeface="Urbanist"/>
                        </a:rPr>
                        <a:t>GloVe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50" b="0" i="0" u="none">
                          <a:solidFill>
                            <a:srgbClr val="CBD5E1"/>
                          </a:solidFill>
                          <a:latin typeface="Urbanist"/>
                        </a:rPr>
                        <a:t>False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50" b="0" i="0" u="none">
                          <a:solidFill>
                            <a:srgbClr val="CBD5E1"/>
                          </a:solidFill>
                          <a:latin typeface="Urbanist"/>
                        </a:rPr>
                        <a:t>85.56%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31787">
                <a:tc>
                  <a:txBody>
                    <a:bodyPr/>
                    <a:lstStyle/>
                    <a:p>
                      <a:pPr algn="l"/>
                      <a:r>
                        <a:rPr sz="1650" b="0" i="0" u="none">
                          <a:solidFill>
                            <a:srgbClr val="CBD5E1"/>
                          </a:solidFill>
                          <a:latin typeface="Urbanist"/>
                        </a:rPr>
                        <a:t>LSTM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50" b="0" i="0" u="none">
                          <a:solidFill>
                            <a:srgbClr val="CBD5E1"/>
                          </a:solidFill>
                          <a:latin typeface="Urbanist"/>
                        </a:rPr>
                        <a:t>Word2Vec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50" b="0" i="0" u="none">
                          <a:solidFill>
                            <a:srgbClr val="CBD5E1"/>
                          </a:solidFill>
                          <a:latin typeface="Urbanist"/>
                        </a:rPr>
                        <a:t>False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50" b="0" i="0" u="none">
                          <a:solidFill>
                            <a:srgbClr val="CBD5E1"/>
                          </a:solidFill>
                          <a:latin typeface="Urbanist"/>
                        </a:rPr>
                        <a:t>85.32%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31791">
                <a:tc>
                  <a:txBody>
                    <a:bodyPr/>
                    <a:lstStyle/>
                    <a:p>
                      <a:pPr algn="l"/>
                      <a:r>
                        <a:rPr sz="1650" b="0" i="0" u="none">
                          <a:solidFill>
                            <a:srgbClr val="CBD5E1"/>
                          </a:solidFill>
                          <a:latin typeface="Urbanist"/>
                        </a:rPr>
                        <a:t>LSTM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50" b="0" i="0" u="none">
                          <a:solidFill>
                            <a:srgbClr val="CBD5E1"/>
                          </a:solidFill>
                          <a:latin typeface="Urbanist"/>
                        </a:rPr>
                        <a:t>GloVe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50" b="0" i="0" u="none">
                          <a:solidFill>
                            <a:srgbClr val="CBD5E1"/>
                          </a:solidFill>
                          <a:latin typeface="Urbanist"/>
                        </a:rPr>
                        <a:t>True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50" b="0" i="0" u="none">
                          <a:solidFill>
                            <a:srgbClr val="EF4444"/>
                          </a:solidFill>
                          <a:latin typeface="Urbanist"/>
                        </a:rPr>
                        <a:t>83.27%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771525" y="2889051"/>
            <a:ext cx="1989683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2761208" y="2889051"/>
            <a:ext cx="3076723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837932" y="2889051"/>
            <a:ext cx="2026592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7864524" y="2889051"/>
            <a:ext cx="3555950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771525" y="3614737"/>
            <a:ext cx="1989683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2761208" y="3614737"/>
            <a:ext cx="3076723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5837932" y="3614737"/>
            <a:ext cx="2026592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7864524" y="3614737"/>
            <a:ext cx="3555950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771525" y="4340423"/>
            <a:ext cx="1989683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2761208" y="4340423"/>
            <a:ext cx="3076723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5837932" y="4340423"/>
            <a:ext cx="2026592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7864524" y="4340423"/>
            <a:ext cx="3555950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771525" y="5066109"/>
            <a:ext cx="1989683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2761208" y="5066109"/>
            <a:ext cx="3076723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5837932" y="5066109"/>
            <a:ext cx="2026592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7864524" y="5066109"/>
            <a:ext cx="3555950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771525" y="5791795"/>
            <a:ext cx="1989683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2761208" y="5791795"/>
            <a:ext cx="3076723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5837932" y="5791795"/>
            <a:ext cx="2026592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7864524" y="5791795"/>
            <a:ext cx="3555950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9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1525" y="2519660"/>
            <a:ext cx="5181600" cy="2914054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38875" y="2519660"/>
            <a:ext cx="5181600" cy="291405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71525" y="581025"/>
            <a:ext cx="11181397" cy="571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600" b="0" i="0" u="none">
                <a:solidFill>
                  <a:srgbClr val="F8FAFC"/>
                </a:solidFill>
                <a:latin typeface="Urbanist ExtraBold"/>
              </a:rPr>
              <a:t>Insight 1: The Text Length Paradox</a:t>
            </a:r>
          </a:p>
        </p:txBody>
      </p:sp>
      <p:sp>
        <p:nvSpPr>
          <p:cNvPr id="5" name="Rectangle 4"/>
          <p:cNvSpPr/>
          <p:nvPr/>
        </p:nvSpPr>
        <p:spPr>
          <a:xfrm>
            <a:off x="771525" y="1276350"/>
            <a:ext cx="10648950" cy="19050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315700" y="6448425"/>
            <a:ext cx="485775" cy="2095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64748B"/>
                </a:solidFill>
                <a:latin typeface="Urbanist"/>
              </a:rPr>
              <a:t>28 / 39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6800" y="2814935"/>
            <a:ext cx="4820602" cy="3619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400" b="0" i="0" u="none">
                <a:solidFill>
                  <a:srgbClr val="38BDF8"/>
                </a:solidFill>
                <a:latin typeface="Urbanist ExtraBold"/>
              </a:rPr>
              <a:t>Short Text (Rotten Tomatoes)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6800" y="3319760"/>
            <a:ext cx="4591050" cy="335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sz="1650" b="1" i="0" u="none">
                <a:solidFill>
                  <a:srgbClr val="CBD5E1"/>
                </a:solidFill>
                <a:latin typeface="Urbanist"/>
              </a:rPr>
              <a:t>Winner: LSTM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6800" y="3797796"/>
            <a:ext cx="4591050" cy="134064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sz="1650" b="0" i="0" u="none">
                <a:solidFill>
                  <a:srgbClr val="CBD5E1"/>
                </a:solidFill>
                <a:latin typeface="Urbanist"/>
              </a:rPr>
              <a:t>When sentences are extremely short, the exact sequence and context of every single word matters. The LSTM successfully tracked these dense relationships.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34150" y="2814935"/>
            <a:ext cx="4820602" cy="3619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400" b="0" i="0" u="none">
                <a:solidFill>
                  <a:srgbClr val="A78BFA"/>
                </a:solidFill>
                <a:latin typeface="Urbanist ExtraBold"/>
              </a:rPr>
              <a:t>Long Text (IMDB)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34150" y="3319760"/>
            <a:ext cx="4591050" cy="335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sz="1650" b="1" i="0" u="none">
                <a:solidFill>
                  <a:srgbClr val="CBD5E1"/>
                </a:solidFill>
                <a:latin typeface="Urbanist"/>
              </a:rPr>
              <a:t>Winner: CNN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34150" y="3797796"/>
            <a:ext cx="4591050" cy="134064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sz="1650" b="0" i="0" u="none">
                <a:solidFill>
                  <a:srgbClr val="CBD5E1"/>
                </a:solidFill>
                <a:latin typeface="Urbanist"/>
              </a:rPr>
              <a:t>Over 200 words, LSTM gradients struggle and it loses context. The CNN, acting as an n-gram scanner, easily "fished" out key sentiment phrases regardless of where they appeared.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9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71525" y="581025"/>
            <a:ext cx="11181397" cy="571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600" b="0" i="0" u="none">
                <a:solidFill>
                  <a:srgbClr val="F8FAFC"/>
                </a:solidFill>
                <a:latin typeface="Urbanist ExtraBold"/>
              </a:rPr>
              <a:t>Tracking Progress Across Epochs</a:t>
            </a:r>
          </a:p>
        </p:txBody>
      </p:sp>
      <p:sp>
        <p:nvSpPr>
          <p:cNvPr id="3" name="Rectangle 2"/>
          <p:cNvSpPr/>
          <p:nvPr/>
        </p:nvSpPr>
        <p:spPr>
          <a:xfrm>
            <a:off x="771525" y="1276350"/>
            <a:ext cx="10648950" cy="19050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1315700" y="6448425"/>
            <a:ext cx="485775" cy="2095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64748B"/>
                </a:solidFill>
                <a:latin typeface="Urbanist"/>
              </a:rPr>
              <a:t>29 / 39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1525" y="1716732"/>
            <a:ext cx="10648950" cy="50783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650" b="0" i="0" u="none" dirty="0">
                <a:solidFill>
                  <a:srgbClr val="CBD5E1"/>
                </a:solidFill>
                <a:latin typeface="Urbanist"/>
              </a:rPr>
              <a:t>To understand model behavior, we tracked metrics across 5 epochs. This revealed critical differences between frozen and unfrozen layer</a:t>
            </a:r>
            <a:r>
              <a:rPr lang="en-US" sz="1650" dirty="0">
                <a:solidFill>
                  <a:srgbClr val="CBD5E1"/>
                </a:solidFill>
                <a:latin typeface="Urbanist"/>
              </a:rPr>
              <a:t>s </a:t>
            </a:r>
            <a:r>
              <a:rPr sz="1650" b="0" i="0" u="none" dirty="0">
                <a:solidFill>
                  <a:srgbClr val="CBD5E1"/>
                </a:solidFill>
                <a:latin typeface="Urbanist"/>
              </a:rPr>
              <a:t>.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71525" y="2577554"/>
          <a:ext cx="10648948" cy="365893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9264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1788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54719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59122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731787">
                <a:tc>
                  <a:txBody>
                    <a:bodyPr/>
                    <a:lstStyle/>
                    <a:p>
                      <a:pPr algn="l"/>
                      <a:r>
                        <a:rPr sz="1800" b="0" i="0" u="none">
                          <a:solidFill>
                            <a:srgbClr val="38BDF8"/>
                          </a:solidFill>
                          <a:latin typeface="Urbanist ExtraBold"/>
                        </a:rPr>
                        <a:t>Epoch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 i="0" u="none">
                          <a:solidFill>
                            <a:srgbClr val="38BDF8"/>
                          </a:solidFill>
                          <a:latin typeface="Urbanist ExtraBold"/>
                        </a:rPr>
                        <a:t>Train Loss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 i="0" u="none">
                          <a:solidFill>
                            <a:srgbClr val="38BDF8"/>
                          </a:solidFill>
                          <a:latin typeface="Urbanist ExtraBold"/>
                        </a:rPr>
                        <a:t>Train Acc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 i="0" u="none">
                          <a:solidFill>
                            <a:srgbClr val="38BDF8"/>
                          </a:solidFill>
                          <a:latin typeface="Urbanist ExtraBold"/>
                        </a:rPr>
                        <a:t>Validation Acc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31787">
                <a:tc>
                  <a:txBody>
                    <a:bodyPr/>
                    <a:lstStyle/>
                    <a:p>
                      <a:pPr algn="l"/>
                      <a:r>
                        <a:rPr sz="1650" b="0" i="0" u="none">
                          <a:solidFill>
                            <a:srgbClr val="CBD5E1"/>
                          </a:solidFill>
                          <a:latin typeface="Urbanist"/>
                        </a:rPr>
                        <a:t>1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50" b="0" i="0" u="none">
                          <a:solidFill>
                            <a:srgbClr val="CBD5E1"/>
                          </a:solidFill>
                          <a:latin typeface="Urbanist"/>
                        </a:rPr>
                        <a:t>0.6802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50" b="0" i="0" u="none">
                          <a:solidFill>
                            <a:srgbClr val="CBD5E1"/>
                          </a:solidFill>
                          <a:latin typeface="Urbanist"/>
                        </a:rPr>
                        <a:t>68.0%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50" b="0" i="0" u="none">
                          <a:solidFill>
                            <a:srgbClr val="CBD5E1"/>
                          </a:solidFill>
                          <a:latin typeface="Urbanist"/>
                        </a:rPr>
                        <a:t>62.6%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31787">
                <a:tc>
                  <a:txBody>
                    <a:bodyPr/>
                    <a:lstStyle/>
                    <a:p>
                      <a:pPr algn="l"/>
                      <a:r>
                        <a:rPr sz="1650" b="0" i="0" u="none">
                          <a:solidFill>
                            <a:srgbClr val="CBD5E1"/>
                          </a:solidFill>
                          <a:latin typeface="Urbanist"/>
                        </a:rPr>
                        <a:t>2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50" b="0" i="0" u="none">
                          <a:solidFill>
                            <a:srgbClr val="CBD5E1"/>
                          </a:solidFill>
                          <a:latin typeface="Urbanist"/>
                        </a:rPr>
                        <a:t>0.3111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50" b="0" i="0" u="none">
                          <a:solidFill>
                            <a:srgbClr val="CBD5E1"/>
                          </a:solidFill>
                          <a:latin typeface="Urbanist"/>
                        </a:rPr>
                        <a:t>87.5%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50" b="0" i="0" u="none">
                          <a:solidFill>
                            <a:srgbClr val="CBD5E1"/>
                          </a:solidFill>
                          <a:latin typeface="Urbanist"/>
                        </a:rPr>
                        <a:t>88.3%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31787">
                <a:tc>
                  <a:txBody>
                    <a:bodyPr/>
                    <a:lstStyle/>
                    <a:p>
                      <a:pPr algn="l"/>
                      <a:r>
                        <a:rPr sz="1650" b="0" i="0" u="none">
                          <a:solidFill>
                            <a:srgbClr val="CBD5E1"/>
                          </a:solidFill>
                          <a:latin typeface="Urbanist"/>
                        </a:rPr>
                        <a:t>3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50" b="0" i="0" u="none">
                          <a:solidFill>
                            <a:srgbClr val="CBD5E1"/>
                          </a:solidFill>
                          <a:latin typeface="Urbanist"/>
                        </a:rPr>
                        <a:t>0.1658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50" b="0" i="0" u="none">
                          <a:solidFill>
                            <a:srgbClr val="CBD5E1"/>
                          </a:solidFill>
                          <a:latin typeface="Urbanist"/>
                        </a:rPr>
                        <a:t>94.1%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50" b="0" i="0" u="none">
                          <a:solidFill>
                            <a:srgbClr val="CBD5E1"/>
                          </a:solidFill>
                          <a:latin typeface="Urbanist"/>
                        </a:rPr>
                        <a:t>87.6%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31791">
                <a:tc>
                  <a:txBody>
                    <a:bodyPr/>
                    <a:lstStyle/>
                    <a:p>
                      <a:pPr algn="l"/>
                      <a:r>
                        <a:rPr sz="1650" b="0" i="0" u="none">
                          <a:solidFill>
                            <a:srgbClr val="CBD5E1"/>
                          </a:solidFill>
                          <a:latin typeface="Urbanist"/>
                        </a:rPr>
                        <a:t>...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50" b="0" i="0" u="none">
                          <a:solidFill>
                            <a:srgbClr val="CBD5E1"/>
                          </a:solidFill>
                          <a:latin typeface="Urbanist"/>
                        </a:rPr>
                        <a:t>...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50" b="0" i="0" u="none">
                          <a:solidFill>
                            <a:srgbClr val="CBD5E1"/>
                          </a:solidFill>
                          <a:latin typeface="Urbanist"/>
                        </a:rPr>
                        <a:t>...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50" b="0" i="0" u="none">
                          <a:solidFill>
                            <a:srgbClr val="CBD5E1"/>
                          </a:solidFill>
                          <a:latin typeface="Urbanist"/>
                        </a:rPr>
                        <a:t>...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771525" y="3319462"/>
            <a:ext cx="1892647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2664172" y="3319462"/>
            <a:ext cx="2617886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5282058" y="3319462"/>
            <a:ext cx="2547193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7829252" y="3319462"/>
            <a:ext cx="3591222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771525" y="4045148"/>
            <a:ext cx="1892647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2664172" y="4045148"/>
            <a:ext cx="2617886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5282058" y="4045148"/>
            <a:ext cx="2547193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7829252" y="4045148"/>
            <a:ext cx="3591222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771525" y="4770834"/>
            <a:ext cx="1892647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2664172" y="4770834"/>
            <a:ext cx="2617886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5282058" y="4770834"/>
            <a:ext cx="2547193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7829252" y="4770834"/>
            <a:ext cx="3591222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771525" y="5496520"/>
            <a:ext cx="1892647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2664172" y="5496520"/>
            <a:ext cx="2617886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5282058" y="5496520"/>
            <a:ext cx="2547193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7829252" y="5496520"/>
            <a:ext cx="3591222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771525" y="6222206"/>
            <a:ext cx="1892647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2664172" y="6222206"/>
            <a:ext cx="2617886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5282058" y="6222206"/>
            <a:ext cx="2547193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7829252" y="6222206"/>
            <a:ext cx="3591222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9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1525" y="3500437"/>
            <a:ext cx="5038725" cy="1508521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81750" y="3500437"/>
            <a:ext cx="5038725" cy="1508521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71525" y="581025"/>
            <a:ext cx="11181397" cy="571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600" b="0" i="0" u="none">
                <a:solidFill>
                  <a:srgbClr val="F8FAFC"/>
                </a:solidFill>
                <a:latin typeface="Urbanist ExtraBold"/>
              </a:rPr>
              <a:t>Insight 2: The Memorization Trap</a:t>
            </a:r>
          </a:p>
        </p:txBody>
      </p:sp>
      <p:sp>
        <p:nvSpPr>
          <p:cNvPr id="5" name="Rectangle 4"/>
          <p:cNvSpPr/>
          <p:nvPr/>
        </p:nvSpPr>
        <p:spPr>
          <a:xfrm>
            <a:off x="771525" y="1276350"/>
            <a:ext cx="10648950" cy="19050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306175" y="6448425"/>
            <a:ext cx="495300" cy="2095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64748B"/>
                </a:solidFill>
                <a:latin typeface="Urbanist"/>
              </a:rPr>
              <a:t>30 / 39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1525" y="2353865"/>
            <a:ext cx="10648950" cy="6703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sz="1650" b="0" i="0" u="none">
                <a:solidFill>
                  <a:srgbClr val="CBD5E1"/>
                </a:solidFill>
                <a:latin typeface="Urbanist"/>
              </a:rPr>
              <a:t>When unfreezing embeddings on IMDB (CNN + Word2Vec), the model stopped learning language and started memorizing specific reviews, causing severe overfitting.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1525" y="5294709"/>
            <a:ext cx="10648950" cy="30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0" i="0" u="none">
                <a:solidFill>
                  <a:srgbClr val="94A3B8"/>
                </a:solidFill>
                <a:latin typeface="Urbanist"/>
              </a:rPr>
              <a:t>* Data extracted directly from `imdb | CNN | Word2Vec | FreezeFalse` run logs.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9650" y="3690937"/>
            <a:ext cx="4840605" cy="3693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400" b="0" i="0" u="none" dirty="0">
                <a:solidFill>
                  <a:srgbClr val="38BDF8"/>
                </a:solidFill>
                <a:latin typeface="Urbanist ExtraBold"/>
              </a:rPr>
              <a:t>Epoch </a:t>
            </a:r>
            <a:r>
              <a:rPr lang="he-IL" sz="2400" b="0" i="0" u="none" dirty="0">
                <a:solidFill>
                  <a:srgbClr val="38BDF8"/>
                </a:solidFill>
                <a:latin typeface="Urbanist ExtraBold"/>
              </a:rPr>
              <a:t>2</a:t>
            </a:r>
            <a:r>
              <a:rPr sz="2400" b="0" i="0" u="none" dirty="0">
                <a:solidFill>
                  <a:srgbClr val="38BDF8"/>
                </a:solidFill>
                <a:latin typeface="Urbanist ExtraBold"/>
              </a:rPr>
              <a:t> 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9650" y="4148137"/>
            <a:ext cx="4610100" cy="30591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sz="1650" b="0" i="0" u="none" dirty="0">
                <a:solidFill>
                  <a:srgbClr val="CBD5E1"/>
                </a:solidFill>
                <a:latin typeface="Urbanist"/>
              </a:rPr>
              <a:t>Train Accuracy: </a:t>
            </a:r>
            <a:r>
              <a:rPr lang="he-IL" sz="1650" b="1" dirty="0">
                <a:solidFill>
                  <a:srgbClr val="FFFFFF"/>
                </a:solidFill>
                <a:latin typeface="Urbanist"/>
              </a:rPr>
              <a:t>87</a:t>
            </a:r>
            <a:r>
              <a:rPr sz="1650" b="1" i="0" u="none" dirty="0">
                <a:solidFill>
                  <a:srgbClr val="FFFFFF"/>
                </a:solidFill>
                <a:latin typeface="Urbanist"/>
              </a:rPr>
              <a:t>.</a:t>
            </a:r>
            <a:r>
              <a:rPr lang="he-IL" sz="1650" b="1" i="0" u="none" dirty="0">
                <a:solidFill>
                  <a:srgbClr val="FFFFFF"/>
                </a:solidFill>
                <a:latin typeface="Urbanist"/>
              </a:rPr>
              <a:t>5</a:t>
            </a:r>
            <a:r>
              <a:rPr sz="1650" b="1" i="0" u="none" dirty="0">
                <a:solidFill>
                  <a:srgbClr val="FFFFFF"/>
                </a:solidFill>
                <a:latin typeface="Urbanist"/>
              </a:rPr>
              <a:t>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9650" y="4483298"/>
            <a:ext cx="4610100" cy="30591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sz="1650" b="0" i="0" u="none" dirty="0">
                <a:solidFill>
                  <a:srgbClr val="CBD5E1"/>
                </a:solidFill>
                <a:latin typeface="Urbanist"/>
              </a:rPr>
              <a:t>Validation Acc: </a:t>
            </a:r>
            <a:r>
              <a:rPr lang="he-IL" sz="1650" b="1" dirty="0">
                <a:solidFill>
                  <a:srgbClr val="FFFFFF"/>
                </a:solidFill>
                <a:latin typeface="Urbanist"/>
              </a:rPr>
              <a:t>88</a:t>
            </a:r>
            <a:r>
              <a:rPr sz="1650" b="1" i="0" u="none" dirty="0">
                <a:solidFill>
                  <a:srgbClr val="FFFFFF"/>
                </a:solidFill>
                <a:latin typeface="Urbanist"/>
              </a:rPr>
              <a:t>.</a:t>
            </a:r>
            <a:r>
              <a:rPr lang="he-IL" sz="1650" b="1" i="0" u="none" dirty="0">
                <a:solidFill>
                  <a:srgbClr val="FFFFFF"/>
                </a:solidFill>
                <a:latin typeface="Urbanist"/>
              </a:rPr>
              <a:t>3</a:t>
            </a:r>
            <a:r>
              <a:rPr sz="1650" b="1" i="0" u="none" dirty="0">
                <a:solidFill>
                  <a:srgbClr val="FFFFFF"/>
                </a:solidFill>
                <a:latin typeface="Urbanist"/>
              </a:rPr>
              <a:t>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19875" y="3690937"/>
            <a:ext cx="4840605" cy="3619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400" b="0" i="0" u="none">
                <a:solidFill>
                  <a:srgbClr val="EF4444"/>
                </a:solidFill>
                <a:latin typeface="Urbanist ExtraBold"/>
              </a:rPr>
              <a:t>Epoch 5 (Complete Overfit)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19875" y="4148137"/>
            <a:ext cx="4610100" cy="335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sz="1650" b="0" i="0" u="none">
                <a:solidFill>
                  <a:srgbClr val="CBD5E1"/>
                </a:solidFill>
                <a:latin typeface="Urbanist"/>
              </a:rPr>
              <a:t>Train Accuracy: </a:t>
            </a:r>
            <a:r>
              <a:rPr sz="1650" b="1" i="0" u="none">
                <a:solidFill>
                  <a:srgbClr val="FFFFFF"/>
                </a:solidFill>
                <a:latin typeface="Urbanist"/>
              </a:rPr>
              <a:t>98.7%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19875" y="4483298"/>
            <a:ext cx="4610100" cy="335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sz="1650" b="0" i="0" u="none">
                <a:solidFill>
                  <a:srgbClr val="CBD5E1"/>
                </a:solidFill>
                <a:latin typeface="Urbanist"/>
              </a:rPr>
              <a:t>Validation Acc: </a:t>
            </a:r>
            <a:r>
              <a:rPr sz="1650" b="1" i="0" u="none">
                <a:solidFill>
                  <a:srgbClr val="FFFFFF"/>
                </a:solidFill>
                <a:latin typeface="Urbanist"/>
              </a:rPr>
              <a:t>86.5%</a:t>
            </a:r>
            <a:r>
              <a:rPr sz="1650" b="0" i="0" u="none">
                <a:solidFill>
                  <a:srgbClr val="CBD5E1"/>
                </a:solidFill>
                <a:latin typeface="Urbanist"/>
              </a:rPr>
              <a:t> (Stagnated)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FDC41BC-9910-C55E-DF5E-F91C0C9611F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 rot="16200000">
            <a:off x="2667000" y="-2667000"/>
            <a:ext cx="6858000" cy="12192000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206E56BB-C8E6-4F70-B8BF-921C4912D6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297716"/>
            <a:ext cx="12192000" cy="64008"/>
          </a:xfrm>
          <a:prstGeom prst="rect">
            <a:avLst/>
          </a:prstGeom>
          <a:solidFill>
            <a:schemeClr val="tx2">
              <a:lumMod val="50000"/>
              <a:alpha val="97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2"/>
              </a:solidFill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9643316-AB20-4DD1-8578-B5D7F033C0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8561952" y="3396997"/>
            <a:ext cx="6858002" cy="64008"/>
          </a:xfrm>
          <a:prstGeom prst="rect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9331572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9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1363325" y="6448425"/>
            <a:ext cx="438150" cy="2095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64748B"/>
                </a:solidFill>
                <a:latin typeface="Urbanist"/>
              </a:rPr>
              <a:t>31 / 39</a:t>
            </a:r>
          </a:p>
        </p:txBody>
      </p:sp>
      <p:sp>
        <p:nvSpPr>
          <p:cNvPr id="3" name="Rectangle 2"/>
          <p:cNvSpPr/>
          <p:nvPr/>
        </p:nvSpPr>
        <p:spPr>
          <a:xfrm>
            <a:off x="5381625" y="2496442"/>
            <a:ext cx="1428750" cy="38100"/>
          </a:xfrm>
          <a:prstGeom prst="rect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395537" y="2820292"/>
            <a:ext cx="7400925" cy="7334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4800" b="0" i="0" u="none">
                <a:solidFill>
                  <a:srgbClr val="38BDF8"/>
                </a:solidFill>
                <a:latin typeface="Urbanist ExtraBold"/>
              </a:rPr>
              <a:t>Phase 5: The Transformer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043362" y="3934717"/>
            <a:ext cx="4105275" cy="4266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3359"/>
              </a:lnSpc>
            </a:pPr>
            <a:r>
              <a:rPr sz="2100" b="0" i="0" u="none" dirty="0">
                <a:solidFill>
                  <a:srgbClr val="94A3B8"/>
                </a:solidFill>
                <a:latin typeface="Urbanist"/>
              </a:rPr>
              <a:t>Breaking the Ceiling with DistilBERT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9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81750" y="1676400"/>
            <a:ext cx="5038725" cy="428625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71525" y="581025"/>
            <a:ext cx="11181397" cy="571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600" b="0" i="0" u="none" dirty="0">
                <a:solidFill>
                  <a:srgbClr val="F8FAFC"/>
                </a:solidFill>
                <a:latin typeface="Urbanist ExtraBold"/>
              </a:rPr>
              <a:t>Enter DistilBERT</a:t>
            </a:r>
          </a:p>
        </p:txBody>
      </p:sp>
      <p:sp>
        <p:nvSpPr>
          <p:cNvPr id="4" name="Rectangle 3"/>
          <p:cNvSpPr/>
          <p:nvPr/>
        </p:nvSpPr>
        <p:spPr>
          <a:xfrm>
            <a:off x="771525" y="1276350"/>
            <a:ext cx="10648950" cy="19050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315700" y="6448425"/>
            <a:ext cx="485775" cy="2095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64748B"/>
                </a:solidFill>
                <a:latin typeface="Urbanist"/>
              </a:rPr>
              <a:t>32 / 39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1525" y="1676400"/>
            <a:ext cx="5290661" cy="3619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400" b="0" i="0" u="none">
                <a:solidFill>
                  <a:srgbClr val="38BDF8"/>
                </a:solidFill>
                <a:latin typeface="Urbanist ExtraBold"/>
              </a:rPr>
              <a:t>The Self-Attention Paradigm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1525" y="2181225"/>
            <a:ext cx="5038725" cy="6703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sz="1650" b="0" i="0" u="none">
                <a:solidFill>
                  <a:srgbClr val="CBD5E1"/>
                </a:solidFill>
                <a:latin typeface="Urbanist"/>
              </a:rPr>
              <a:t>Instead of reading left-to-right (LSTM) or scanning small windows (CNN), Transformers use Self-Attention.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72275" y="2066925"/>
            <a:ext cx="4257675" cy="35052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152525" y="2994421"/>
            <a:ext cx="4657725" cy="73134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sz="1800" b="0" i="0" u="none">
                <a:solidFill>
                  <a:srgbClr val="CBD5E1"/>
                </a:solidFill>
                <a:latin typeface="Urbanist"/>
              </a:rPr>
              <a:t>Every word looks at every other word in the sentence simultaneously.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52525" y="3963888"/>
            <a:ext cx="4657725" cy="73134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sz="1800" b="0" i="0" u="none">
                <a:solidFill>
                  <a:srgbClr val="CBD5E1"/>
                </a:solidFill>
                <a:latin typeface="Urbanist"/>
              </a:rPr>
              <a:t>Builds rich, bidirectional contextual matrices instantly.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52525" y="4933354"/>
            <a:ext cx="4657725" cy="146268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sz="1800" b="0" i="0" u="none">
                <a:solidFill>
                  <a:srgbClr val="CBD5E1"/>
                </a:solidFill>
                <a:latin typeface="Urbanist"/>
              </a:rPr>
              <a:t>We used — a lighter version retaining 97% of BERT's language capacity.</a:t>
            </a:r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1525" y="3013471"/>
            <a:ext cx="114300" cy="247650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1525" y="3982938"/>
            <a:ext cx="114300" cy="247650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1525" y="4952404"/>
            <a:ext cx="114300" cy="247650"/>
          </a:xfrm>
          <a:prstGeom prst="rect">
            <a:avLst/>
          </a:prstGeom>
        </p:spPr>
      </p:pic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52525" y="5337125"/>
            <a:ext cx="4153644" cy="304800"/>
          </a:xfrm>
          <a:prstGeom prst="rect">
            <a:avLst/>
          </a:prstGeom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9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1525" y="1676400"/>
            <a:ext cx="10648950" cy="4600575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71525" y="581025"/>
            <a:ext cx="11181397" cy="571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600" b="0" i="0" u="none">
                <a:solidFill>
                  <a:srgbClr val="F8FAFC"/>
                </a:solidFill>
                <a:latin typeface="Urbanist ExtraBold"/>
              </a:rPr>
              <a:t>Transformer Results (Just 3 Epochs)</a:t>
            </a:r>
          </a:p>
        </p:txBody>
      </p:sp>
      <p:sp>
        <p:nvSpPr>
          <p:cNvPr id="4" name="Rectangle 3"/>
          <p:cNvSpPr/>
          <p:nvPr/>
        </p:nvSpPr>
        <p:spPr>
          <a:xfrm>
            <a:off x="771525" y="1276350"/>
            <a:ext cx="10648950" cy="19050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325225" y="6448425"/>
            <a:ext cx="476250" cy="2095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64748B"/>
                </a:solidFill>
                <a:latin typeface="Urbanist"/>
              </a:rPr>
              <a:t>33 / 39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1525" y="5365402"/>
            <a:ext cx="10648950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 i="0" u="none" dirty="0">
                <a:solidFill>
                  <a:srgbClr val="34D399"/>
                </a:solidFill>
                <a:latin typeface="Urbanist"/>
              </a:rPr>
              <a:t>DistilBERT</a:t>
            </a:r>
            <a:r>
              <a:rPr lang="en-US" sz="1800" b="1" i="0" u="none" dirty="0">
                <a:solidFill>
                  <a:srgbClr val="34D399"/>
                </a:solidFill>
                <a:latin typeface="Urbanist"/>
              </a:rPr>
              <a:t> achieves the highest accuracy among all tested models</a:t>
            </a:r>
            <a:r>
              <a:rPr lang="en-US" b="1" dirty="0">
                <a:solidFill>
                  <a:srgbClr val="34D399"/>
                </a:solidFill>
                <a:latin typeface="Urbanist"/>
              </a:rPr>
              <a:t>.</a:t>
            </a:r>
            <a:endParaRPr sz="1800" b="1" i="0" u="none" dirty="0">
              <a:solidFill>
                <a:srgbClr val="34D399"/>
              </a:solidFill>
              <a:latin typeface="Urbanist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9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71525" y="581025"/>
            <a:ext cx="11181397" cy="571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600" b="0" i="0" u="none">
                <a:solidFill>
                  <a:srgbClr val="F8FAFC"/>
                </a:solidFill>
                <a:latin typeface="Urbanist ExtraBold"/>
              </a:rPr>
              <a:t>The Cost of Attention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771525" y="1276350"/>
            <a:ext cx="10648950" cy="19050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1315700" y="6448425"/>
            <a:ext cx="485775" cy="2095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64748B"/>
                </a:solidFill>
                <a:latin typeface="Urbanist"/>
              </a:rPr>
              <a:t>34 / 39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1525" y="3100387"/>
            <a:ext cx="2581275" cy="1333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0500"/>
              </a:lnSpc>
            </a:pPr>
            <a:r>
              <a:rPr sz="10500" b="0" i="0" u="none">
                <a:solidFill>
                  <a:srgbClr val="A78BFA"/>
                </a:solidFill>
                <a:latin typeface="Urbanist ExtraBold"/>
              </a:rPr>
              <a:t>194s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1525" y="4529137"/>
            <a:ext cx="2581275" cy="3238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100" b="0" i="0" u="none">
                <a:solidFill>
                  <a:srgbClr val="F8FAFC"/>
                </a:solidFill>
                <a:latin typeface="Urbanist"/>
              </a:rPr>
              <a:t>Train Time per Epoch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924300" y="2958703"/>
            <a:ext cx="7870983" cy="3619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400" b="0" i="0" u="none">
                <a:solidFill>
                  <a:srgbClr val="38BDF8"/>
                </a:solidFill>
                <a:latin typeface="Urbanist ExtraBold"/>
              </a:rPr>
              <a:t>Massive Compute Requirements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924300" y="3463528"/>
            <a:ext cx="7496175" cy="6703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sz="1650" b="0" i="0" u="none" dirty="0">
                <a:solidFill>
                  <a:srgbClr val="CBD5E1"/>
                </a:solidFill>
                <a:latin typeface="Urbanist"/>
              </a:rPr>
              <a:t>The accuracy gain comes at a severe computational cost. Training DistilBERT on IMDB took roughly 194 seconds per epoch.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924300" y="4324350"/>
            <a:ext cx="7496175" cy="6703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sz="1650" b="0" i="0" u="none">
                <a:solidFill>
                  <a:srgbClr val="CBD5E1"/>
                </a:solidFill>
                <a:latin typeface="Urbanist"/>
              </a:rPr>
              <a:t>Compare this to the CNN which took ~7 seconds, or Logistic Regression which took 0.5 seconds in total.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9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1525" y="4895403"/>
            <a:ext cx="10648950" cy="1386482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71525" y="581025"/>
            <a:ext cx="11181397" cy="571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600" b="0" i="0" u="none">
                <a:solidFill>
                  <a:srgbClr val="F8FAFC"/>
                </a:solidFill>
                <a:latin typeface="Urbanist ExtraBold"/>
              </a:rPr>
              <a:t>Insight 3: The Ultimate Trade-off (ROI)</a:t>
            </a:r>
          </a:p>
        </p:txBody>
      </p:sp>
      <p:sp>
        <p:nvSpPr>
          <p:cNvPr id="4" name="Rectangle 3"/>
          <p:cNvSpPr/>
          <p:nvPr/>
        </p:nvSpPr>
        <p:spPr>
          <a:xfrm>
            <a:off x="771525" y="1276350"/>
            <a:ext cx="10648950" cy="19050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315700" y="6448425"/>
            <a:ext cx="485775" cy="2095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64748B"/>
                </a:solidFill>
                <a:latin typeface="Urbanist"/>
              </a:rPr>
              <a:t>35 / 39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71525" y="1676400"/>
          <a:ext cx="10648948" cy="293325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8991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1329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12181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2391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733313">
                <a:tc>
                  <a:txBody>
                    <a:bodyPr/>
                    <a:lstStyle/>
                    <a:p>
                      <a:pPr algn="l"/>
                      <a:r>
                        <a:rPr sz="1800" b="0" i="0" u="none">
                          <a:solidFill>
                            <a:srgbClr val="38BDF8"/>
                          </a:solidFill>
                          <a:latin typeface="Urbanist ExtraBold"/>
                        </a:rPr>
                        <a:t>Model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 i="0" u="none">
                          <a:solidFill>
                            <a:srgbClr val="38BDF8"/>
                          </a:solidFill>
                          <a:latin typeface="Urbanist ExtraBold"/>
                        </a:rPr>
                        <a:t>Accuracy (IMDB)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 i="0" u="none">
                          <a:solidFill>
                            <a:srgbClr val="38BDF8"/>
                          </a:solidFill>
                          <a:latin typeface="Urbanist ExtraBold"/>
                        </a:rPr>
                        <a:t>Time (Epoch/Total)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 i="0" u="none">
                          <a:solidFill>
                            <a:srgbClr val="38BDF8"/>
                          </a:solidFill>
                          <a:latin typeface="Urbanist ExtraBold"/>
                        </a:rPr>
                        <a:t>Complexity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33313">
                <a:tc>
                  <a:txBody>
                    <a:bodyPr/>
                    <a:lstStyle/>
                    <a:p>
                      <a:pPr algn="l"/>
                      <a:r>
                        <a:rPr sz="1650" b="0" i="0" u="none">
                          <a:solidFill>
                            <a:srgbClr val="38BDF8"/>
                          </a:solidFill>
                          <a:latin typeface="Urbanist"/>
                        </a:rPr>
                        <a:t>Logistic Regression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50" b="0" i="0" u="none">
                          <a:solidFill>
                            <a:srgbClr val="CBD5E1"/>
                          </a:solidFill>
                          <a:latin typeface="Urbanist"/>
                        </a:rPr>
                        <a:t>89.35%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50" b="1" i="0" u="none">
                          <a:solidFill>
                            <a:srgbClr val="34D399"/>
                          </a:solidFill>
                          <a:latin typeface="Urbanist"/>
                        </a:rPr>
                        <a:t>0.53 seconds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50" b="0" i="0" u="none">
                          <a:solidFill>
                            <a:srgbClr val="CBD5E1"/>
                          </a:solidFill>
                          <a:latin typeface="Urbanist"/>
                        </a:rPr>
                        <a:t>Low (TF-IDF)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33313">
                <a:tc>
                  <a:txBody>
                    <a:bodyPr/>
                    <a:lstStyle/>
                    <a:p>
                      <a:pPr algn="l"/>
                      <a:r>
                        <a:rPr sz="1650" b="0" i="0" u="none">
                          <a:solidFill>
                            <a:srgbClr val="A78BFA"/>
                          </a:solidFill>
                          <a:latin typeface="Urbanist"/>
                        </a:rPr>
                        <a:t>CNN + Word2Vec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50" b="0" i="0" u="none">
                          <a:solidFill>
                            <a:srgbClr val="CBD5E1"/>
                          </a:solidFill>
                          <a:latin typeface="Urbanist"/>
                        </a:rPr>
                        <a:t>87.68%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50" b="0" i="0" u="none">
                          <a:solidFill>
                            <a:srgbClr val="CBD5E1"/>
                          </a:solidFill>
                          <a:latin typeface="Urbanist"/>
                        </a:rPr>
                        <a:t>~6.9 seconds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50" b="0" i="0" u="none">
                          <a:solidFill>
                            <a:srgbClr val="CBD5E1"/>
                          </a:solidFill>
                          <a:latin typeface="Urbanist"/>
                        </a:rPr>
                        <a:t>Medium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33314">
                <a:tc>
                  <a:txBody>
                    <a:bodyPr/>
                    <a:lstStyle/>
                    <a:p>
                      <a:pPr algn="l"/>
                      <a:r>
                        <a:rPr sz="1650" b="1" i="0" u="none" dirty="0">
                          <a:solidFill>
                            <a:srgbClr val="F8FAFC"/>
                          </a:solidFill>
                          <a:latin typeface="Urbanist"/>
                        </a:rPr>
                        <a:t>DistilBERT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50" b="1" i="0" u="none">
                          <a:solidFill>
                            <a:srgbClr val="34D399"/>
                          </a:solidFill>
                          <a:latin typeface="Urbanist"/>
                        </a:rPr>
                        <a:t>90.86%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50" b="1" i="0" u="none">
                          <a:solidFill>
                            <a:srgbClr val="EF4444"/>
                          </a:solidFill>
                          <a:latin typeface="Urbanist"/>
                        </a:rPr>
                        <a:t>194 seconds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50" b="0" i="0" u="none">
                          <a:solidFill>
                            <a:srgbClr val="CBD5E1"/>
                          </a:solidFill>
                          <a:latin typeface="Urbanist"/>
                        </a:rPr>
                        <a:t>Extreme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1009650" y="5085903"/>
            <a:ext cx="10220325" cy="100548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sz="1650" b="1" i="0" u="none" dirty="0">
                <a:solidFill>
                  <a:srgbClr val="CBD5E1"/>
                </a:solidFill>
                <a:latin typeface="Urbanist"/>
              </a:rPr>
              <a:t>The Engineering Dilemma:</a:t>
            </a:r>
            <a:r>
              <a:rPr sz="1650" b="0" i="0" u="none" dirty="0">
                <a:solidFill>
                  <a:srgbClr val="CBD5E1"/>
                </a:solidFill>
                <a:latin typeface="Urbanist"/>
              </a:rPr>
              <a:t> Is a ~1.5% accuracy gain of DistilBERT over simple Logistic Regression worth a massive increase in compute time and cost? For massive scale deployments, Traditional ML remains incredibly potent.</a:t>
            </a:r>
          </a:p>
        </p:txBody>
      </p:sp>
      <p:sp>
        <p:nvSpPr>
          <p:cNvPr id="8" name="Rectangle 7"/>
          <p:cNvSpPr/>
          <p:nvPr/>
        </p:nvSpPr>
        <p:spPr>
          <a:xfrm>
            <a:off x="771525" y="2418308"/>
            <a:ext cx="2689919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3461444" y="2418308"/>
            <a:ext cx="2813298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6274742" y="2418308"/>
            <a:ext cx="3121818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9396561" y="2418308"/>
            <a:ext cx="2023913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771525" y="3143994"/>
            <a:ext cx="2689919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3461444" y="3143994"/>
            <a:ext cx="2813298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6274742" y="3143994"/>
            <a:ext cx="3121818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9396561" y="3143994"/>
            <a:ext cx="2023913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771525" y="3869680"/>
            <a:ext cx="2689919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3461444" y="3869680"/>
            <a:ext cx="2813298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6274742" y="3869680"/>
            <a:ext cx="3121818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9396561" y="3869680"/>
            <a:ext cx="2023913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771525" y="4595366"/>
            <a:ext cx="2689919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3461444" y="4595366"/>
            <a:ext cx="2813298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6274742" y="4595366"/>
            <a:ext cx="3121818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9396561" y="4595366"/>
            <a:ext cx="2023913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7327596-4C71-BBA1-C71C-D0D1D3632A4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9"/>
          <a:stretch>
            <a:fillRect/>
          </a:stretch>
        </p:blipFill>
        <p:spPr>
          <a:xfrm rot="16200000">
            <a:off x="2667641" y="-2666359"/>
            <a:ext cx="6856718" cy="1219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1020738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9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1315700" y="6448425"/>
            <a:ext cx="485775" cy="2095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64748B"/>
                </a:solidFill>
                <a:latin typeface="Urbanist"/>
              </a:rPr>
              <a:t>36 / 39</a:t>
            </a:r>
          </a:p>
        </p:txBody>
      </p:sp>
      <p:sp>
        <p:nvSpPr>
          <p:cNvPr id="3" name="Rectangle 2"/>
          <p:cNvSpPr/>
          <p:nvPr/>
        </p:nvSpPr>
        <p:spPr>
          <a:xfrm>
            <a:off x="5381625" y="2496442"/>
            <a:ext cx="1428750" cy="38100"/>
          </a:xfrm>
          <a:prstGeom prst="rect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960483" y="2820292"/>
            <a:ext cx="8271033" cy="7334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4800" b="0" i="0" u="none">
                <a:solidFill>
                  <a:srgbClr val="38BDF8"/>
                </a:solidFill>
                <a:latin typeface="Urbanist ExtraBold"/>
              </a:rPr>
              <a:t>Phase 6: Project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029075" y="3934717"/>
            <a:ext cx="4133850" cy="4266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3359"/>
              </a:lnSpc>
            </a:pPr>
            <a:r>
              <a:rPr sz="2100" b="0" i="0" u="none">
                <a:solidFill>
                  <a:srgbClr val="94A3B8"/>
                </a:solidFill>
                <a:latin typeface="Urbanist"/>
              </a:rPr>
              <a:t>Behind the scenes of the codebase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9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1525" y="2591097"/>
            <a:ext cx="5181600" cy="2771179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38875" y="2591097"/>
            <a:ext cx="5181600" cy="2771179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71525" y="581025"/>
            <a:ext cx="11181397" cy="571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600" b="0" i="0" u="none">
                <a:solidFill>
                  <a:srgbClr val="F8FAFC"/>
                </a:solidFill>
                <a:latin typeface="Urbanist ExtraBold"/>
              </a:rPr>
              <a:t>Code Architecture &amp; Modularity</a:t>
            </a:r>
          </a:p>
        </p:txBody>
      </p:sp>
      <p:sp>
        <p:nvSpPr>
          <p:cNvPr id="5" name="Rectangle 4"/>
          <p:cNvSpPr/>
          <p:nvPr/>
        </p:nvSpPr>
        <p:spPr>
          <a:xfrm>
            <a:off x="771525" y="1276350"/>
            <a:ext cx="10648950" cy="19050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315700" y="6448425"/>
            <a:ext cx="485775" cy="2095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64748B"/>
                </a:solidFill>
                <a:latin typeface="Urbanist"/>
              </a:rPr>
              <a:t>37 / 39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6800" y="2886372"/>
            <a:ext cx="4820602" cy="3619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400" b="0" i="0" u="none">
                <a:solidFill>
                  <a:srgbClr val="38BDF8"/>
                </a:solidFill>
                <a:latin typeface="Urbanist ExtraBold"/>
              </a:rPr>
              <a:t>Separation of Concerns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6800" y="3391197"/>
            <a:ext cx="4591050" cy="16396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lang="he-IL" sz="1650" b="0" i="0" u="none" dirty="0">
                <a:solidFill>
                  <a:srgbClr val="CBD5E1"/>
                </a:solidFill>
                <a:latin typeface="Urbanist"/>
              </a:rPr>
              <a:t>                     </a:t>
            </a:r>
            <a:r>
              <a:rPr sz="1650" b="0" i="0" u="none" dirty="0">
                <a:solidFill>
                  <a:srgbClr val="CBD5E1"/>
                </a:solidFill>
                <a:latin typeface="Urbanist"/>
              </a:rPr>
              <a:t>acts as the single source of truth for all hyperparameters.</a:t>
            </a:r>
            <a:endParaRPr lang="he-IL" sz="1650" b="0" i="0" u="none" dirty="0">
              <a:solidFill>
                <a:srgbClr val="CBD5E1"/>
              </a:solidFill>
              <a:latin typeface="Urbanist"/>
            </a:endParaRPr>
          </a:p>
          <a:p>
            <a:pPr algn="l">
              <a:lnSpc>
                <a:spcPts val="2640"/>
              </a:lnSpc>
            </a:pPr>
            <a:r>
              <a:rPr lang="he-IL" sz="1650" b="0" i="0" u="none" dirty="0">
                <a:solidFill>
                  <a:srgbClr val="CBD5E1"/>
                </a:solidFill>
                <a:latin typeface="Urbanist"/>
              </a:rPr>
              <a:t>                    </a:t>
            </a:r>
            <a:r>
              <a:rPr sz="1650" b="0" i="0" u="none" dirty="0">
                <a:solidFill>
                  <a:srgbClr val="CBD5E1"/>
                </a:solidFill>
                <a:latin typeface="Urbanist"/>
              </a:rPr>
              <a:t> </a:t>
            </a:r>
            <a:r>
              <a:rPr lang="he-IL" sz="1650" b="0" i="0" u="none" dirty="0">
                <a:solidFill>
                  <a:srgbClr val="CBD5E1"/>
                </a:solidFill>
                <a:latin typeface="Urbanist"/>
              </a:rPr>
              <a:t>                                                   </a:t>
            </a:r>
            <a:r>
              <a:rPr sz="1650" b="0" i="0" u="none" dirty="0">
                <a:solidFill>
                  <a:srgbClr val="CBD5E1"/>
                </a:solidFill>
                <a:latin typeface="Urbanist"/>
              </a:rPr>
              <a:t>Data loading () and text normalization () are strictly isolated from the math networks.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34150" y="2886372"/>
            <a:ext cx="4820602" cy="3619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400" b="0" i="0" u="none">
                <a:solidFill>
                  <a:srgbClr val="38BDF8"/>
                </a:solidFill>
                <a:latin typeface="Urbanist ExtraBold"/>
              </a:rPr>
              <a:t>Unified Pipeline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34150" y="3391197"/>
            <a:ext cx="4591050" cy="130619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sz="1650" b="0" i="0" u="none" dirty="0">
                <a:solidFill>
                  <a:srgbClr val="CBD5E1"/>
                </a:solidFill>
                <a:latin typeface="Urbanist"/>
              </a:rPr>
              <a:t>Using</a:t>
            </a:r>
            <a:r>
              <a:rPr lang="he-IL" sz="1650" b="0" i="0" u="none" dirty="0">
                <a:solidFill>
                  <a:srgbClr val="CBD5E1"/>
                </a:solidFill>
                <a:latin typeface="Urbanist"/>
              </a:rPr>
              <a:t>   </a:t>
            </a:r>
            <a:r>
              <a:rPr lang="en-US" sz="1650" b="0" i="0" u="none" dirty="0">
                <a:solidFill>
                  <a:srgbClr val="CBD5E1"/>
                </a:solidFill>
                <a:latin typeface="Urbanist"/>
              </a:rPr>
              <a:t> </a:t>
            </a:r>
            <a:r>
              <a:rPr lang="he-IL" sz="1650" b="0" i="0" u="none" dirty="0">
                <a:solidFill>
                  <a:srgbClr val="CBD5E1"/>
                </a:solidFill>
                <a:latin typeface="Urbanist"/>
              </a:rPr>
              <a:t>                    </a:t>
            </a:r>
            <a:r>
              <a:rPr sz="1650" b="0" i="0" u="none" dirty="0">
                <a:solidFill>
                  <a:srgbClr val="CBD5E1"/>
                </a:solidFill>
                <a:latin typeface="Urbanist"/>
              </a:rPr>
              <a:t>and</a:t>
            </a:r>
            <a:r>
              <a:rPr lang="he-IL" sz="1650" b="0" i="0" u="none" dirty="0">
                <a:solidFill>
                  <a:srgbClr val="CBD5E1"/>
                </a:solidFill>
                <a:latin typeface="Urbanist"/>
              </a:rPr>
              <a:t>                  </a:t>
            </a:r>
            <a:r>
              <a:rPr sz="1650" b="0" i="0" u="none" dirty="0">
                <a:solidFill>
                  <a:srgbClr val="CBD5E1"/>
                </a:solidFill>
                <a:latin typeface="Urbanist"/>
              </a:rPr>
              <a:t> , we established a standardized training loop. This allowed us to execute and log all 26 deep learning combinations automatically.</a:t>
            </a:r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6800" y="3431083"/>
            <a:ext cx="1181397" cy="304800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71748" y="4116647"/>
            <a:ext cx="1752897" cy="304800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83415" y="4071793"/>
            <a:ext cx="1867197" cy="304800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038975" y="3428366"/>
            <a:ext cx="1295697" cy="304800"/>
          </a:xfrm>
          <a:prstGeom prst="rect">
            <a:avLst/>
          </a:prstGeom>
        </p:spPr>
      </p:pic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839497" y="3410247"/>
            <a:ext cx="952648" cy="304800"/>
          </a:xfrm>
          <a:prstGeom prst="rect">
            <a:avLst/>
          </a:prstGeom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9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71525" y="581025"/>
            <a:ext cx="11181397" cy="571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600" b="0" i="0" u="none">
                <a:solidFill>
                  <a:srgbClr val="F8FAFC"/>
                </a:solidFill>
                <a:latin typeface="Urbanist ExtraBold"/>
              </a:rPr>
              <a:t>Conclusions</a:t>
            </a:r>
          </a:p>
        </p:txBody>
      </p:sp>
      <p:sp>
        <p:nvSpPr>
          <p:cNvPr id="3" name="Rectangle 2"/>
          <p:cNvSpPr/>
          <p:nvPr/>
        </p:nvSpPr>
        <p:spPr>
          <a:xfrm>
            <a:off x="771525" y="1276350"/>
            <a:ext cx="10648950" cy="19050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1325225" y="6448425"/>
            <a:ext cx="476250" cy="2095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64748B"/>
                </a:solidFill>
                <a:latin typeface="Urbanist"/>
              </a:rPr>
              <a:t>38 / 39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52525" y="2220515"/>
            <a:ext cx="10267950" cy="73134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sz="1800" b="1" i="0" u="none">
                <a:solidFill>
                  <a:srgbClr val="CBD5E1"/>
                </a:solidFill>
                <a:latin typeface="Urbanist"/>
              </a:rPr>
              <a:t>Baseline vs. Deep Learning:</a:t>
            </a:r>
            <a:r>
              <a:rPr sz="1800" b="0" i="0" u="none">
                <a:solidFill>
                  <a:srgbClr val="CBD5E1"/>
                </a:solidFill>
                <a:latin typeface="Urbanist"/>
              </a:rPr>
              <a:t> Traditional ML (LR + TF-IDF) is remarkably fast and powerful, providing a very tough baseline to beat on long texts.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52525" y="3189982"/>
            <a:ext cx="10267950" cy="73134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sz="1800" b="1" i="0" u="none">
                <a:solidFill>
                  <a:srgbClr val="CBD5E1"/>
                </a:solidFill>
                <a:latin typeface="Urbanist"/>
              </a:rPr>
              <a:t>Context Matters:</a:t>
            </a:r>
            <a:r>
              <a:rPr sz="1800" b="0" i="0" u="none">
                <a:solidFill>
                  <a:srgbClr val="CBD5E1"/>
                </a:solidFill>
                <a:latin typeface="Urbanist"/>
              </a:rPr>
              <a:t> LSTM shines on short, dense text; CNN excels at fast feature extraction over long documents.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52525" y="4159448"/>
            <a:ext cx="10267950" cy="73134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sz="1800" b="1" i="0" u="none">
                <a:solidFill>
                  <a:srgbClr val="CBD5E1"/>
                </a:solidFill>
                <a:latin typeface="Urbanist"/>
              </a:rPr>
              <a:t>Regularization:</a:t>
            </a:r>
            <a:r>
              <a:rPr sz="1800" b="0" i="0" u="none">
                <a:solidFill>
                  <a:srgbClr val="CBD5E1"/>
                </a:solidFill>
                <a:latin typeface="Urbanist"/>
              </a:rPr>
              <a:t> Unfreezing embeddings without massive datasets leads directly to memorization instead of learning.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52525" y="5128914"/>
            <a:ext cx="10267950" cy="3656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sz="1800" b="1" i="0" u="none">
                <a:solidFill>
                  <a:srgbClr val="CBD5E1"/>
                </a:solidFill>
                <a:latin typeface="Urbanist"/>
              </a:rPr>
              <a:t>Transformers:</a:t>
            </a:r>
            <a:r>
              <a:rPr sz="1800" b="0" i="0" u="none">
                <a:solidFill>
                  <a:srgbClr val="CBD5E1"/>
                </a:solidFill>
                <a:latin typeface="Urbanist"/>
              </a:rPr>
              <a:t> Easily top the accuracy charts, but demand careful consideration of computational ROI.</a:t>
            </a: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1525" y="2239565"/>
            <a:ext cx="114300" cy="24765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1525" y="3209032"/>
            <a:ext cx="114300" cy="247650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1525" y="4178498"/>
            <a:ext cx="114300" cy="247650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1525" y="5147964"/>
            <a:ext cx="114300" cy="247650"/>
          </a:xfrm>
          <a:prstGeom prst="rect">
            <a:avLst/>
          </a:prstGeom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9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1325225" y="6448425"/>
            <a:ext cx="476250" cy="2095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64748B"/>
                </a:solidFill>
                <a:latin typeface="Urbanist"/>
              </a:rPr>
              <a:t>39 / 39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1525" y="581025"/>
            <a:ext cx="11181397" cy="2762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0" i="0" u="none">
                <a:solidFill>
                  <a:srgbClr val="F8FAFC"/>
                </a:solidFill>
                <a:latin typeface="Urbanist ExtraBold"/>
              </a:rPr>
              <a:t>Questions?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1525" y="1047750"/>
            <a:ext cx="10648950" cy="5485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4320"/>
              </a:lnSpc>
            </a:pPr>
            <a:r>
              <a:rPr sz="2700" b="0" i="0" u="none">
                <a:solidFill>
                  <a:srgbClr val="94A3B8"/>
                </a:solidFill>
                <a:latin typeface="Urbanist"/>
              </a:rPr>
              <a:t>Thank you for your attention.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1525" y="2072580"/>
            <a:ext cx="10648950" cy="2762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0" i="0" u="none">
                <a:solidFill>
                  <a:srgbClr val="64748B"/>
                </a:solidFill>
                <a:latin typeface="Urbanist"/>
              </a:rPr>
              <a:t>End of Presentation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80</TotalTime>
  <Words>1901</Words>
  <Application>Microsoft Office PowerPoint</Application>
  <PresentationFormat>Widescreen</PresentationFormat>
  <Paragraphs>312</Paragraphs>
  <Slides>44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44</vt:i4>
      </vt:variant>
    </vt:vector>
  </HeadingPairs>
  <TitlesOfParts>
    <vt:vector size="49" baseType="lpstr">
      <vt:lpstr>Arial</vt:lpstr>
      <vt:lpstr>Calibri</vt:lpstr>
      <vt:lpstr>Urbanist</vt:lpstr>
      <vt:lpstr>Urbanist ExtraBold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א ג</dc:creator>
  <cp:keywords/>
  <dc:description>generated using python-pptx</dc:description>
  <cp:lastModifiedBy>Or Hachaim Gol</cp:lastModifiedBy>
  <cp:revision>4</cp:revision>
  <dcterms:created xsi:type="dcterms:W3CDTF">2013-01-27T09:14:16Z</dcterms:created>
  <dcterms:modified xsi:type="dcterms:W3CDTF">2026-09-17T22:03:35Z</dcterms:modified>
  <cp:category/>
</cp:coreProperties>
</file>